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nyitó dián érdemes a valós problémából indulni: a betegút és az egészségügyi események követése sokszor széttagolt, ezért a projekt az adatokat és kommunikációt egy rendszerbe szervezi.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Itt mutatható be a Clean Architecture jellegű rétegezés: a frontend HTTP kérést küld, a Controller a MediatR-nak továbbít, a Command vagy Query Handler végzi az üzleti logikát és az EF Core-on keresztüli adatkezelést.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felhasználási dián a mindennapi munkafolyamat a fontos: a betegút egy eseménysorozatként jelenik meg, amelyet a páciens és a szakmai oldal is követhet.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továbbfejlesztési irányoknál érdemes elkülöníteni a kötelező vizsgaremek-funkciókat és a későbbi, valós intézményi működéshez szükséges bővítéseket.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A </a:t>
            </a:r>
            <a:r>
              <a:rPr dirty="0" err="1"/>
              <a:t>záró</a:t>
            </a:r>
            <a:r>
              <a:rPr dirty="0"/>
              <a:t> </a:t>
            </a:r>
            <a:r>
              <a:rPr dirty="0" err="1"/>
              <a:t>dián</a:t>
            </a:r>
            <a:r>
              <a:rPr dirty="0"/>
              <a:t> </a:t>
            </a:r>
            <a:r>
              <a:rPr dirty="0" err="1"/>
              <a:t>lehet</a:t>
            </a:r>
            <a:r>
              <a:rPr dirty="0"/>
              <a:t> </a:t>
            </a:r>
            <a:r>
              <a:rPr dirty="0" err="1"/>
              <a:t>az</a:t>
            </a:r>
            <a:r>
              <a:rPr dirty="0"/>
              <a:t> </a:t>
            </a:r>
            <a:r>
              <a:rPr dirty="0" err="1"/>
              <a:t>élő</a:t>
            </a:r>
            <a:r>
              <a:rPr dirty="0"/>
              <a:t> </a:t>
            </a:r>
            <a:r>
              <a:rPr dirty="0" err="1"/>
              <a:t>demóra</a:t>
            </a:r>
            <a:r>
              <a:rPr dirty="0"/>
              <a:t> </a:t>
            </a:r>
            <a:r>
              <a:rPr dirty="0" err="1"/>
              <a:t>átváltani</a:t>
            </a:r>
            <a:r>
              <a:rPr dirty="0"/>
              <a:t>. A </a:t>
            </a:r>
            <a:r>
              <a:rPr dirty="0" err="1"/>
              <a:t>jogosultságokat</a:t>
            </a:r>
            <a:r>
              <a:rPr dirty="0"/>
              <a:t> </a:t>
            </a:r>
            <a:r>
              <a:rPr dirty="0" err="1"/>
              <a:t>úgy</a:t>
            </a:r>
            <a:r>
              <a:rPr dirty="0"/>
              <a:t> </a:t>
            </a:r>
            <a:r>
              <a:rPr dirty="0" err="1"/>
              <a:t>érdemes</a:t>
            </a:r>
            <a:r>
              <a:rPr dirty="0"/>
              <a:t> </a:t>
            </a:r>
            <a:r>
              <a:rPr dirty="0" err="1"/>
              <a:t>bemutatni</a:t>
            </a:r>
            <a:r>
              <a:rPr dirty="0"/>
              <a:t>, </a:t>
            </a:r>
            <a:r>
              <a:rPr dirty="0" err="1"/>
              <a:t>hogy</a:t>
            </a:r>
            <a:r>
              <a:rPr dirty="0"/>
              <a:t> </a:t>
            </a:r>
            <a:r>
              <a:rPr dirty="0" err="1"/>
              <a:t>ugyanazt</a:t>
            </a:r>
            <a:r>
              <a:rPr dirty="0"/>
              <a:t> a </a:t>
            </a:r>
            <a:r>
              <a:rPr dirty="0" err="1"/>
              <a:t>funkciót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szerepkörrel</a:t>
            </a:r>
            <a:r>
              <a:rPr dirty="0"/>
              <a:t> </a:t>
            </a:r>
            <a:r>
              <a:rPr dirty="0" err="1"/>
              <a:t>megnyitva</a:t>
            </a:r>
            <a:r>
              <a:rPr dirty="0"/>
              <a:t> </a:t>
            </a:r>
            <a:r>
              <a:rPr dirty="0" err="1"/>
              <a:t>látszódjanak</a:t>
            </a:r>
            <a:r>
              <a:rPr dirty="0"/>
              <a:t> </a:t>
            </a:r>
            <a:r>
              <a:rPr dirty="0" err="1"/>
              <a:t>az</a:t>
            </a:r>
            <a:r>
              <a:rPr dirty="0"/>
              <a:t> </a:t>
            </a:r>
            <a:r>
              <a:rPr dirty="0" err="1"/>
              <a:t>eltérő</a:t>
            </a:r>
            <a:r>
              <a:rPr dirty="0"/>
              <a:t> </a:t>
            </a:r>
            <a:r>
              <a:rPr dirty="0" err="1"/>
              <a:t>lehetőségek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églalap 19">
            <a:extLst>
              <a:ext uri="{FF2B5EF4-FFF2-40B4-BE49-F238E27FC236}">
                <a16:creationId xmlns:a16="http://schemas.microsoft.com/office/drawing/2014/main" id="{EF49A68E-ABAF-4FFB-8F29-209A92EF507B}"/>
              </a:ext>
            </a:extLst>
          </p:cNvPr>
          <p:cNvSpPr>
            <a:spLocks noGrp="1"/>
          </p:cNvSpPr>
          <p:nvPr/>
        </p:nvSpPr>
        <p:spPr>
          <a:xfrm>
            <a:off x="19050" y="-9832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59B9C895-D7B4-4AF7-8580-F85C23D59C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1D75D8"/>
          </a:solidFill>
          <a:ln w="0">
            <a:noFill/>
          </a:ln>
        </p:spPr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438945B6-88A3-45ED-AB5C-EDADC2116280}"/>
              </a:ext>
            </a:extLst>
          </p:cNvPr>
          <p:cNvSpPr>
            <a:spLocks noGrp="1"/>
          </p:cNvSpPr>
          <p:nvPr/>
        </p:nvSpPr>
        <p:spPr>
          <a:xfrm>
            <a:off x="0" y="133350"/>
            <a:ext cx="12192000" cy="38100"/>
          </a:xfrm>
          <a:prstGeom prst="rect">
            <a:avLst/>
          </a:prstGeom>
          <a:solidFill>
            <a:srgbClr val="74C9F4"/>
          </a:solidFill>
          <a:ln w="0">
            <a:noFill/>
          </a:ln>
        </p:spPr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68217B79-5EFB-4038-9080-DD6CB62ACAE0}"/>
              </a:ext>
            </a:extLst>
          </p:cNvPr>
          <p:cNvSpPr>
            <a:spLocks noGrp="1"/>
          </p:cNvSpPr>
          <p:nvPr/>
        </p:nvSpPr>
        <p:spPr>
          <a:xfrm>
            <a:off x="457200" y="419100"/>
            <a:ext cx="306000" cy="304800"/>
          </a:xfrm>
          <a:prstGeom prst="roundRect">
            <a:avLst>
              <a:gd name="adj" fmla="val 16667"/>
            </a:avLst>
          </a:prstGeom>
          <a:solidFill>
            <a:srgbClr val="EAF5FF"/>
          </a:solidFill>
          <a:ln w="9525">
            <a:solidFill>
              <a:srgbClr val="C8D8E6"/>
            </a:solidFill>
          </a:ln>
        </p:spPr>
        <p:txBody>
          <a:bodyPr>
            <a:normAutofit fontScale="92500" lnSpcReduction="10000"/>
          </a:bodyPr>
          <a:lstStyle/>
          <a:p>
            <a:pPr>
              <a:defRPr sz="1425" b="1">
                <a:solidFill>
                  <a:srgbClr val="1D75D8"/>
                </a:solidFill>
                <a:latin typeface="Aptos"/>
                <a:ea typeface="Aptos"/>
                <a:cs typeface="Aptos"/>
              </a:defRPr>
            </a:pPr>
            <a:r>
              <a:rPr sz="1425" b="1" dirty="0">
                <a:solidFill>
                  <a:srgbClr val="1D75D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E88C22FC-9C6D-4D44-8E69-A617166C9CD2}"/>
              </a:ext>
            </a:extLst>
          </p:cNvPr>
          <p:cNvSpPr>
            <a:spLocks noGrp="1"/>
          </p:cNvSpPr>
          <p:nvPr/>
        </p:nvSpPr>
        <p:spPr>
          <a:xfrm>
            <a:off x="9715500" y="476250"/>
            <a:ext cx="195262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75" b="0" i="0">
                <a:solidFill>
                  <a:srgbClr val="4B617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4B6175"/>
                </a:solidFill>
                <a:latin typeface="Aptos"/>
                <a:ea typeface="Aptos"/>
                <a:cs typeface="Aptos"/>
              </a:rPr>
              <a:t>EgészségÚt / MedActivities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D4C42E66-DA01-40A4-BA2E-EF4E05423813}"/>
              </a:ext>
            </a:extLst>
          </p:cNvPr>
          <p:cNvSpPr>
            <a:spLocks noGrp="1"/>
          </p:cNvSpPr>
          <p:nvPr/>
        </p:nvSpPr>
        <p:spPr>
          <a:xfrm>
            <a:off x="1066800" y="400050"/>
            <a:ext cx="7429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 i="0">
                <a:solidFill>
                  <a:srgbClr val="15324A"/>
                </a:solidFill>
                <a:latin typeface="Aptos"/>
                <a:ea typeface="Aptos"/>
                <a:cs typeface="Aptos"/>
              </a:defRPr>
            </a:pPr>
            <a:r>
              <a:rPr sz="2550" b="1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Bevezetés</a:t>
            </a:r>
            <a:r>
              <a:rPr sz="2550" b="1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 </a:t>
            </a:r>
            <a:r>
              <a:rPr sz="2550" b="1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és</a:t>
            </a:r>
            <a:r>
              <a:rPr sz="2550" b="1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 </a:t>
            </a:r>
            <a:r>
              <a:rPr sz="2550" b="1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piackutatás</a:t>
            </a:r>
            <a:endParaRPr sz="2550" b="1" i="0" dirty="0">
              <a:solidFill>
                <a:srgbClr val="1532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AC786B89-33BC-424D-B41D-324C3901A2C7}"/>
              </a:ext>
            </a:extLst>
          </p:cNvPr>
          <p:cNvSpPr>
            <a:spLocks noGrp="1"/>
          </p:cNvSpPr>
          <p:nvPr/>
        </p:nvSpPr>
        <p:spPr>
          <a:xfrm>
            <a:off x="1085850" y="904875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 i="0">
                <a:solidFill>
                  <a:srgbClr val="4B6175"/>
                </a:solidFill>
                <a:latin typeface="Aptos"/>
                <a:ea typeface="Aptos"/>
                <a:cs typeface="Aptos"/>
              </a:defRPr>
            </a:pPr>
            <a:r>
              <a:rPr lang="hu-HU" sz="1275" b="0" i="0" dirty="0">
                <a:solidFill>
                  <a:srgbClr val="4B6175"/>
                </a:solidFill>
                <a:latin typeface="Aptos"/>
                <a:ea typeface="Aptos"/>
                <a:cs typeface="Aptos"/>
              </a:rPr>
              <a:t>M</a:t>
            </a:r>
            <a:r>
              <a:rPr sz="1275" b="0" i="0" dirty="0" err="1">
                <a:solidFill>
                  <a:srgbClr val="4B6175"/>
                </a:solidFill>
                <a:latin typeface="Aptos"/>
                <a:ea typeface="Aptos"/>
                <a:cs typeface="Aptos"/>
              </a:rPr>
              <a:t>egoldás</a:t>
            </a:r>
            <a:r>
              <a:rPr sz="1275" b="0" i="0" dirty="0">
                <a:solidFill>
                  <a:srgbClr val="4B6175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i="0" dirty="0" err="1">
                <a:solidFill>
                  <a:srgbClr val="4B6175"/>
                </a:solidFill>
                <a:latin typeface="Aptos"/>
                <a:ea typeface="Aptos"/>
                <a:cs typeface="Aptos"/>
              </a:rPr>
              <a:t>egy</a:t>
            </a:r>
            <a:r>
              <a:rPr sz="1275" b="0" i="0" dirty="0">
                <a:solidFill>
                  <a:srgbClr val="4B6175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i="0" dirty="0" err="1">
                <a:solidFill>
                  <a:srgbClr val="4B6175"/>
                </a:solidFill>
                <a:latin typeface="Aptos"/>
                <a:ea typeface="Aptos"/>
                <a:cs typeface="Aptos"/>
              </a:rPr>
              <a:t>valós</a:t>
            </a:r>
            <a:r>
              <a:rPr sz="1275" b="0" i="0" dirty="0">
                <a:solidFill>
                  <a:srgbClr val="4B6175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i="0" dirty="0" err="1">
                <a:solidFill>
                  <a:srgbClr val="4B6175"/>
                </a:solidFill>
                <a:latin typeface="Aptos"/>
                <a:ea typeface="Aptos"/>
                <a:cs typeface="Aptos"/>
              </a:rPr>
              <a:t>egészségügyi</a:t>
            </a:r>
            <a:r>
              <a:rPr sz="1275" b="0" i="0" dirty="0">
                <a:solidFill>
                  <a:srgbClr val="4B6175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i="0" dirty="0" err="1">
                <a:solidFill>
                  <a:srgbClr val="4B6175"/>
                </a:solidFill>
                <a:latin typeface="Aptos"/>
                <a:ea typeface="Aptos"/>
                <a:cs typeface="Aptos"/>
              </a:rPr>
              <a:t>adminisztrációs</a:t>
            </a:r>
            <a:r>
              <a:rPr sz="1275" b="0" i="0" dirty="0">
                <a:solidFill>
                  <a:srgbClr val="4B6175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i="0" dirty="0" err="1">
                <a:solidFill>
                  <a:srgbClr val="4B6175"/>
                </a:solidFill>
                <a:latin typeface="Aptos"/>
                <a:ea typeface="Aptos"/>
                <a:cs typeface="Aptos"/>
              </a:rPr>
              <a:t>problémára</a:t>
            </a:r>
            <a:endParaRPr sz="1275" b="0" i="0" dirty="0">
              <a:solidFill>
                <a:srgbClr val="4B617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63284089-C4C4-4D26-88C3-662CB2B8D7FE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4953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558"/>
          </a:bodyPr>
          <a:lstStyle/>
          <a:p>
            <a:pPr>
              <a:defRPr sz="1875" b="1" i="0">
                <a:solidFill>
                  <a:srgbClr val="1D75D8"/>
                </a:solidFill>
                <a:latin typeface="Aptos"/>
                <a:ea typeface="Aptos"/>
                <a:cs typeface="Aptos"/>
              </a:defRPr>
            </a:pPr>
            <a:r>
              <a:rPr sz="1875" b="1" i="0" dirty="0" err="1">
                <a:solidFill>
                  <a:srgbClr val="1D75D8"/>
                </a:solidFill>
                <a:latin typeface="Aptos"/>
                <a:ea typeface="Aptos"/>
                <a:cs typeface="Aptos"/>
              </a:rPr>
              <a:t>Egészségügyi</a:t>
            </a:r>
            <a:r>
              <a:rPr sz="1875" b="1" i="0" dirty="0">
                <a:solidFill>
                  <a:srgbClr val="1D75D8"/>
                </a:solidFill>
                <a:latin typeface="Aptos"/>
                <a:ea typeface="Aptos"/>
                <a:cs typeface="Aptos"/>
              </a:rPr>
              <a:t> </a:t>
            </a:r>
            <a:r>
              <a:rPr sz="1875" b="1" i="0" dirty="0" err="1">
                <a:solidFill>
                  <a:srgbClr val="1D75D8"/>
                </a:solidFill>
                <a:latin typeface="Aptos"/>
                <a:ea typeface="Aptos"/>
                <a:cs typeface="Aptos"/>
              </a:rPr>
              <a:t>eseménykezelő</a:t>
            </a:r>
            <a:r>
              <a:rPr sz="1875" b="1" i="0" dirty="0">
                <a:solidFill>
                  <a:srgbClr val="1D75D8"/>
                </a:solidFill>
                <a:latin typeface="Aptos"/>
                <a:ea typeface="Aptos"/>
                <a:cs typeface="Aptos"/>
              </a:rPr>
              <a:t> </a:t>
            </a:r>
            <a:r>
              <a:rPr sz="1875" b="1" i="0" dirty="0" err="1">
                <a:solidFill>
                  <a:srgbClr val="1D75D8"/>
                </a:solidFill>
                <a:latin typeface="Aptos"/>
                <a:ea typeface="Aptos"/>
                <a:cs typeface="Aptos"/>
              </a:rPr>
              <a:t>rendszer</a:t>
            </a:r>
            <a:endParaRPr sz="1875" b="1" i="0" dirty="0">
              <a:solidFill>
                <a:srgbClr val="1D75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9D794E25-E833-4AC2-8454-C2EF418307EB}"/>
              </a:ext>
            </a:extLst>
          </p:cNvPr>
          <p:cNvSpPr>
            <a:spLocks noGrp="1"/>
          </p:cNvSpPr>
          <p:nvPr/>
        </p:nvSpPr>
        <p:spPr>
          <a:xfrm>
            <a:off x="647700" y="2057400"/>
            <a:ext cx="133350" cy="133350"/>
          </a:xfrm>
          <a:prstGeom prst="ellipse">
            <a:avLst/>
          </a:prstGeom>
          <a:solidFill>
            <a:srgbClr val="2A8C74"/>
          </a:solidFill>
          <a:ln w="0">
            <a:noFill/>
          </a:ln>
        </p:spPr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4B3DF3E7-9908-4DF4-B2E7-A3655B5DB6C0}"/>
              </a:ext>
            </a:extLst>
          </p:cNvPr>
          <p:cNvSpPr>
            <a:spLocks noGrp="1"/>
          </p:cNvSpPr>
          <p:nvPr/>
        </p:nvSpPr>
        <p:spPr>
          <a:xfrm>
            <a:off x="914400" y="1981200"/>
            <a:ext cx="459105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0" i="0">
                <a:solidFill>
                  <a:srgbClr val="15324A"/>
                </a:solidFill>
                <a:latin typeface="Aptos"/>
                <a:ea typeface="Aptos"/>
                <a:cs typeface="Aptos"/>
              </a:defRPr>
            </a:pPr>
            <a:r>
              <a:rPr sz="1425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A </a:t>
            </a:r>
            <a:r>
              <a:rPr sz="1425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vizsgálatokhoz</a:t>
            </a:r>
            <a:r>
              <a:rPr sz="1425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, </a:t>
            </a:r>
            <a:r>
              <a:rPr sz="1425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kezelésekhez</a:t>
            </a:r>
            <a:r>
              <a:rPr sz="1425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és</a:t>
            </a:r>
            <a:r>
              <a:rPr sz="1425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betegútlépésekhez</a:t>
            </a:r>
            <a:r>
              <a:rPr sz="1425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tartozó</a:t>
            </a:r>
            <a:r>
              <a:rPr sz="1425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információk</a:t>
            </a:r>
            <a:r>
              <a:rPr sz="1425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sokszor</a:t>
            </a:r>
            <a:r>
              <a:rPr sz="1425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 </a:t>
            </a:r>
            <a:r>
              <a:rPr lang="hu-HU" sz="1425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nehezen átláthatóak, rendezetlenek, sok időt vesz el a megkeresésük</a:t>
            </a:r>
            <a:r>
              <a:rPr sz="1425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1" name="Ellipszis 10">
            <a:extLst>
              <a:ext uri="{FF2B5EF4-FFF2-40B4-BE49-F238E27FC236}">
                <a16:creationId xmlns:a16="http://schemas.microsoft.com/office/drawing/2014/main" id="{AD648593-3194-4F6A-980D-D49413F41B9A}"/>
              </a:ext>
            </a:extLst>
          </p:cNvPr>
          <p:cNvSpPr>
            <a:spLocks noGrp="1"/>
          </p:cNvSpPr>
          <p:nvPr/>
        </p:nvSpPr>
        <p:spPr>
          <a:xfrm>
            <a:off x="647700" y="2876550"/>
            <a:ext cx="133350" cy="133350"/>
          </a:xfrm>
          <a:prstGeom prst="ellipse">
            <a:avLst/>
          </a:prstGeom>
          <a:solidFill>
            <a:srgbClr val="2A8C74"/>
          </a:solidFill>
          <a:ln w="0">
            <a:noFill/>
          </a:ln>
        </p:spPr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5230EF7D-BC14-492A-ABDD-987E91D88BFD}"/>
              </a:ext>
            </a:extLst>
          </p:cNvPr>
          <p:cNvSpPr>
            <a:spLocks noGrp="1"/>
          </p:cNvSpPr>
          <p:nvPr/>
        </p:nvSpPr>
        <p:spPr>
          <a:xfrm>
            <a:off x="914400" y="2800350"/>
            <a:ext cx="459105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0" i="0">
                <a:solidFill>
                  <a:srgbClr val="15324A"/>
                </a:solidFill>
                <a:latin typeface="Aptos"/>
                <a:ea typeface="Aptos"/>
                <a:cs typeface="Aptos"/>
              </a:defRPr>
            </a:pPr>
            <a:r>
              <a:rPr sz="1425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A </a:t>
            </a:r>
            <a:r>
              <a:rPr sz="1425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rendszer</a:t>
            </a:r>
            <a:r>
              <a:rPr sz="1425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célja</a:t>
            </a:r>
            <a:r>
              <a:rPr sz="1425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: </a:t>
            </a:r>
            <a:r>
              <a:rPr sz="1425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adatok</a:t>
            </a:r>
            <a:r>
              <a:rPr sz="1425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, </a:t>
            </a:r>
            <a:r>
              <a:rPr sz="1425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dokumentumok</a:t>
            </a:r>
            <a:r>
              <a:rPr sz="1425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, </a:t>
            </a:r>
            <a:r>
              <a:rPr sz="1425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megjegyzések</a:t>
            </a:r>
            <a:r>
              <a:rPr sz="1425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és</a:t>
            </a:r>
            <a:r>
              <a:rPr sz="1425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időpontok</a:t>
            </a:r>
            <a:r>
              <a:rPr sz="1425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egy</a:t>
            </a:r>
            <a:r>
              <a:rPr sz="1425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közös</a:t>
            </a:r>
            <a:r>
              <a:rPr sz="1425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folyamatba</a:t>
            </a:r>
            <a:r>
              <a:rPr sz="1425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rendezése</a:t>
            </a:r>
            <a:r>
              <a:rPr lang="hu-HU" sz="1425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 vizuálisan felhasználóbarát formában</a:t>
            </a:r>
            <a:r>
              <a:rPr sz="1425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3" name="Ellipszis 12">
            <a:extLst>
              <a:ext uri="{FF2B5EF4-FFF2-40B4-BE49-F238E27FC236}">
                <a16:creationId xmlns:a16="http://schemas.microsoft.com/office/drawing/2014/main" id="{2A58268A-4D55-48BB-9543-58EDA981C987}"/>
              </a:ext>
            </a:extLst>
          </p:cNvPr>
          <p:cNvSpPr>
            <a:spLocks noGrp="1"/>
          </p:cNvSpPr>
          <p:nvPr/>
        </p:nvSpPr>
        <p:spPr>
          <a:xfrm>
            <a:off x="647700" y="3695700"/>
            <a:ext cx="133350" cy="133350"/>
          </a:xfrm>
          <a:prstGeom prst="ellipse">
            <a:avLst/>
          </a:prstGeom>
          <a:solidFill>
            <a:srgbClr val="2A8C74"/>
          </a:solidFill>
          <a:ln w="0">
            <a:noFill/>
          </a:ln>
        </p:spPr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FE43F374-9124-455D-8AC4-277935075608}"/>
              </a:ext>
            </a:extLst>
          </p:cNvPr>
          <p:cNvSpPr>
            <a:spLocks noGrp="1"/>
          </p:cNvSpPr>
          <p:nvPr/>
        </p:nvSpPr>
        <p:spPr>
          <a:xfrm>
            <a:off x="914400" y="3619500"/>
            <a:ext cx="4591050" cy="1466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lnSpcReduction="10000"/>
          </a:bodyPr>
          <a:lstStyle/>
          <a:p>
            <a:pPr>
              <a:defRPr sz="1425" b="0" i="0">
                <a:solidFill>
                  <a:srgbClr val="15324A"/>
                </a:solidFill>
                <a:latin typeface="Aptos"/>
                <a:ea typeface="Aptos"/>
                <a:cs typeface="Aptos"/>
              </a:defRPr>
            </a:pPr>
            <a:r>
              <a:rPr sz="1425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A </a:t>
            </a:r>
            <a:r>
              <a:rPr sz="1425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megoldás</a:t>
            </a:r>
            <a:r>
              <a:rPr sz="1425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 </a:t>
            </a:r>
            <a:r>
              <a:rPr lang="hu-HU" sz="1425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az egészségügyi események könnyebb kezeléséhez az eseményeket középpontba helyező rendszer </a:t>
            </a:r>
            <a:r>
              <a:rPr sz="1425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pácienseknek</a:t>
            </a:r>
            <a:r>
              <a:rPr sz="1425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, </a:t>
            </a:r>
            <a:r>
              <a:rPr sz="1425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orvosoknak</a:t>
            </a:r>
            <a:r>
              <a:rPr sz="1425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és</a:t>
            </a:r>
            <a:r>
              <a:rPr sz="1425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egészségügyi</a:t>
            </a:r>
            <a:r>
              <a:rPr sz="1425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dolgozóknak</a:t>
            </a:r>
            <a:r>
              <a:rPr sz="1425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 ad </a:t>
            </a:r>
            <a:r>
              <a:rPr sz="1425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eltérő</a:t>
            </a:r>
            <a:r>
              <a:rPr sz="1425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felületet</a:t>
            </a:r>
            <a:r>
              <a:rPr lang="hu-HU" sz="1425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, amelyen keresztül </a:t>
            </a:r>
            <a:r>
              <a:rPr lang="hu-HU" sz="1425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a kommunikációt az eseményekkel, adatokkal, dokumentumokkal, megjegyzésekkel és időpontokkal kapcsolatban </a:t>
            </a:r>
            <a:r>
              <a:rPr lang="hu-HU" sz="1425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is egyszerűbbé teszi.</a:t>
            </a:r>
            <a:endParaRPr sz="1425" b="0" i="0" dirty="0">
              <a:solidFill>
                <a:srgbClr val="1532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Téglalap: lekerekített 14">
            <a:extLst>
              <a:ext uri="{FF2B5EF4-FFF2-40B4-BE49-F238E27FC236}">
                <a16:creationId xmlns:a16="http://schemas.microsoft.com/office/drawing/2014/main" id="{86B8F162-9E6A-4846-A430-BD36CB606CEA}"/>
              </a:ext>
            </a:extLst>
          </p:cNvPr>
          <p:cNvSpPr>
            <a:spLocks noGrp="1"/>
          </p:cNvSpPr>
          <p:nvPr/>
        </p:nvSpPr>
        <p:spPr>
          <a:xfrm>
            <a:off x="647700" y="5276850"/>
            <a:ext cx="4333875" cy="323850"/>
          </a:xfrm>
          <a:prstGeom prst="roundRect">
            <a:avLst>
              <a:gd name="adj" fmla="val 23529"/>
            </a:avLst>
          </a:prstGeom>
          <a:solidFill>
            <a:srgbClr val="EAF8F2"/>
          </a:solidFill>
          <a:ln w="9525">
            <a:solidFill>
              <a:srgbClr val="BADFD2"/>
            </a:solidFill>
          </a:ln>
        </p:spPr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6C55DBBF-57C5-496D-8ED6-349778C3AF89}"/>
              </a:ext>
            </a:extLst>
          </p:cNvPr>
          <p:cNvSpPr>
            <a:spLocks noGrp="1"/>
          </p:cNvSpPr>
          <p:nvPr/>
        </p:nvSpPr>
        <p:spPr>
          <a:xfrm>
            <a:off x="781050" y="5353050"/>
            <a:ext cx="4067175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722" lnSpcReduction="10000"/>
          </a:bodyPr>
          <a:lstStyle/>
          <a:p>
            <a:pPr>
              <a:defRPr sz="900" b="1" i="0">
                <a:solidFill>
                  <a:srgbClr val="2A8C74"/>
                </a:solidFill>
                <a:latin typeface="Aptos"/>
                <a:ea typeface="Aptos"/>
                <a:cs typeface="Aptos"/>
              </a:defRPr>
            </a:pPr>
            <a:r>
              <a:rPr sz="900" b="1" i="0" dirty="0" err="1">
                <a:solidFill>
                  <a:srgbClr val="2A8C74"/>
                </a:solidFill>
                <a:latin typeface="Aptos"/>
                <a:ea typeface="Aptos"/>
                <a:cs typeface="Aptos"/>
              </a:rPr>
              <a:t>Cél</a:t>
            </a:r>
            <a:r>
              <a:rPr sz="900" b="1" i="0" dirty="0">
                <a:solidFill>
                  <a:srgbClr val="2A8C74"/>
                </a:solidFill>
                <a:latin typeface="Aptos"/>
                <a:ea typeface="Aptos"/>
                <a:cs typeface="Aptos"/>
              </a:rPr>
              <a:t>: </a:t>
            </a:r>
            <a:r>
              <a:rPr sz="900" b="1" i="0" dirty="0" err="1">
                <a:solidFill>
                  <a:srgbClr val="2A8C74"/>
                </a:solidFill>
                <a:latin typeface="Aptos"/>
                <a:ea typeface="Aptos"/>
                <a:cs typeface="Aptos"/>
              </a:rPr>
              <a:t>átláthatóbb</a:t>
            </a:r>
            <a:r>
              <a:rPr sz="900" b="1" i="0" dirty="0">
                <a:solidFill>
                  <a:srgbClr val="2A8C74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1" i="0" dirty="0" err="1">
                <a:solidFill>
                  <a:srgbClr val="2A8C74"/>
                </a:solidFill>
                <a:latin typeface="Aptos"/>
                <a:ea typeface="Aptos"/>
                <a:cs typeface="Aptos"/>
              </a:rPr>
              <a:t>betegút</a:t>
            </a:r>
            <a:r>
              <a:rPr sz="900" b="1" i="0" dirty="0">
                <a:solidFill>
                  <a:srgbClr val="2A8C74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1" i="0" dirty="0" err="1">
                <a:solidFill>
                  <a:srgbClr val="2A8C74"/>
                </a:solidFill>
                <a:latin typeface="Aptos"/>
                <a:ea typeface="Aptos"/>
                <a:cs typeface="Aptos"/>
              </a:rPr>
              <a:t>és</a:t>
            </a:r>
            <a:r>
              <a:rPr sz="900" b="1" i="0" dirty="0">
                <a:solidFill>
                  <a:srgbClr val="2A8C74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1" i="0" dirty="0" err="1">
                <a:solidFill>
                  <a:srgbClr val="2A8C74"/>
                </a:solidFill>
                <a:latin typeface="Aptos"/>
                <a:ea typeface="Aptos"/>
                <a:cs typeface="Aptos"/>
              </a:rPr>
              <a:t>gyorsabb</a:t>
            </a:r>
            <a:r>
              <a:rPr sz="900" b="1" i="0" dirty="0">
                <a:solidFill>
                  <a:srgbClr val="2A8C74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1" i="0" dirty="0" err="1">
                <a:solidFill>
                  <a:srgbClr val="2A8C74"/>
                </a:solidFill>
                <a:latin typeface="Aptos"/>
                <a:ea typeface="Aptos"/>
                <a:cs typeface="Aptos"/>
              </a:rPr>
              <a:t>kommunikáció</a:t>
            </a:r>
            <a:endParaRPr sz="900" b="1" i="0" dirty="0">
              <a:solidFill>
                <a:srgbClr val="2A8C7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Téglalap: lekerekített 16">
            <a:extLst>
              <a:ext uri="{FF2B5EF4-FFF2-40B4-BE49-F238E27FC236}">
                <a16:creationId xmlns:a16="http://schemas.microsoft.com/office/drawing/2014/main" id="{EC84117B-289D-4FE5-A041-479114A7655B}"/>
              </a:ext>
            </a:extLst>
          </p:cNvPr>
          <p:cNvSpPr>
            <a:spLocks noGrp="1"/>
          </p:cNvSpPr>
          <p:nvPr/>
        </p:nvSpPr>
        <p:spPr>
          <a:xfrm>
            <a:off x="6115050" y="1598358"/>
            <a:ext cx="5219700" cy="2706944"/>
          </a:xfrm>
          <a:prstGeom prst="roundRect">
            <a:avLst>
              <a:gd name="adj" fmla="val 2000"/>
            </a:avLst>
          </a:prstGeom>
          <a:solidFill>
            <a:srgbClr val="F5F8FB"/>
          </a:solidFill>
          <a:ln w="9525">
            <a:solidFill>
              <a:srgbClr val="C8D8E6"/>
            </a:solidFill>
          </a:ln>
        </p:spPr>
      </p:sp>
      <p:pic>
        <p:nvPicPr>
          <p:cNvPr id="37" name="Kép 3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91250" y="1735253"/>
            <a:ext cx="5067300" cy="2513657"/>
          </a:xfrm>
          <a:prstGeom prst="rect">
            <a:avLst/>
          </a:prstGeom>
        </p:spPr>
      </p:pic>
      <p:sp>
        <p:nvSpPr>
          <p:cNvPr id="19" name="Téglalap 18">
            <a:extLst>
              <a:ext uri="{FF2B5EF4-FFF2-40B4-BE49-F238E27FC236}">
                <a16:creationId xmlns:a16="http://schemas.microsoft.com/office/drawing/2014/main" id="{08E512A4-2743-4F87-81E4-3A99CC7B74B9}"/>
              </a:ext>
            </a:extLst>
          </p:cNvPr>
          <p:cNvSpPr>
            <a:spLocks noGrp="1"/>
          </p:cNvSpPr>
          <p:nvPr/>
        </p:nvSpPr>
        <p:spPr>
          <a:xfrm>
            <a:off x="6191250" y="4527103"/>
            <a:ext cx="5067300" cy="276606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00" b="0" i="0">
                <a:solidFill>
                  <a:srgbClr val="4B6175"/>
                </a:solidFill>
                <a:latin typeface="Aptos"/>
                <a:ea typeface="Aptos"/>
                <a:cs typeface="Aptos"/>
              </a:defRPr>
            </a:pPr>
            <a:r>
              <a:rPr sz="900" b="0" i="0" dirty="0" err="1">
                <a:solidFill>
                  <a:srgbClr val="4B6175"/>
                </a:solidFill>
                <a:latin typeface="Aptos"/>
                <a:ea typeface="Aptos"/>
                <a:cs typeface="Aptos"/>
              </a:rPr>
              <a:t>Webes</a:t>
            </a:r>
            <a:r>
              <a:rPr sz="900" b="0" i="0" dirty="0">
                <a:solidFill>
                  <a:srgbClr val="4B6175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i="0" dirty="0" err="1">
                <a:solidFill>
                  <a:srgbClr val="4B6175"/>
                </a:solidFill>
                <a:latin typeface="Aptos"/>
                <a:ea typeface="Aptos"/>
                <a:cs typeface="Aptos"/>
              </a:rPr>
              <a:t>páciensfelület</a:t>
            </a:r>
            <a:endParaRPr sz="900" b="0" i="0" dirty="0">
              <a:solidFill>
                <a:srgbClr val="4B6175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99749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églalap 24">
            <a:extLst>
              <a:ext uri="{FF2B5EF4-FFF2-40B4-BE49-F238E27FC236}">
                <a16:creationId xmlns:a16="http://schemas.microsoft.com/office/drawing/2014/main" id="{C82373B6-1AC9-4CF9-9F81-68BB799455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BBDB0CC6-151D-4B5A-83AC-992FF48054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1D75D8"/>
          </a:solidFill>
          <a:ln w="0">
            <a:noFill/>
          </a:ln>
        </p:spPr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D02CF644-221E-49EE-B703-06957EBBD22C}"/>
              </a:ext>
            </a:extLst>
          </p:cNvPr>
          <p:cNvSpPr>
            <a:spLocks noGrp="1"/>
          </p:cNvSpPr>
          <p:nvPr/>
        </p:nvSpPr>
        <p:spPr>
          <a:xfrm>
            <a:off x="0" y="133350"/>
            <a:ext cx="12192000" cy="38100"/>
          </a:xfrm>
          <a:prstGeom prst="rect">
            <a:avLst/>
          </a:prstGeom>
          <a:solidFill>
            <a:srgbClr val="74C9F4"/>
          </a:solidFill>
          <a:ln w="0">
            <a:noFill/>
          </a:ln>
        </p:spPr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954A03F8-295C-4E36-BCDD-D3C89D3D6220}"/>
              </a:ext>
            </a:extLst>
          </p:cNvPr>
          <p:cNvSpPr>
            <a:spLocks noGrp="1"/>
          </p:cNvSpPr>
          <p:nvPr/>
        </p:nvSpPr>
        <p:spPr>
          <a:xfrm>
            <a:off x="457200" y="419100"/>
            <a:ext cx="306000" cy="306000"/>
          </a:xfrm>
          <a:prstGeom prst="roundRect">
            <a:avLst>
              <a:gd name="adj" fmla="val 16667"/>
            </a:avLst>
          </a:prstGeom>
          <a:solidFill>
            <a:srgbClr val="EAF5FF"/>
          </a:solidFill>
          <a:ln w="9525">
            <a:solidFill>
              <a:srgbClr val="C8D8E6"/>
            </a:solidFill>
          </a:ln>
        </p:spPr>
        <p:txBody>
          <a:bodyPr>
            <a:normAutofit fontScale="92500" lnSpcReduction="10000"/>
          </a:bodyPr>
          <a:lstStyle/>
          <a:p>
            <a:pPr>
              <a:defRPr sz="1425" b="1">
                <a:solidFill>
                  <a:srgbClr val="1D75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75D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5AAE8258-B59A-4177-82E0-1B74AE319A28}"/>
              </a:ext>
            </a:extLst>
          </p:cNvPr>
          <p:cNvSpPr>
            <a:spLocks noGrp="1"/>
          </p:cNvSpPr>
          <p:nvPr/>
        </p:nvSpPr>
        <p:spPr>
          <a:xfrm>
            <a:off x="9715500" y="476250"/>
            <a:ext cx="195262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75" b="0" i="0">
                <a:solidFill>
                  <a:srgbClr val="4B617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4B6175"/>
                </a:solidFill>
                <a:latin typeface="Aptos"/>
                <a:ea typeface="Aptos"/>
                <a:cs typeface="Aptos"/>
              </a:rPr>
              <a:t>EgészségÚt / MedActivities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6E76C4FC-D79E-43AA-8AF8-8E4D460F16CE}"/>
              </a:ext>
            </a:extLst>
          </p:cNvPr>
          <p:cNvSpPr>
            <a:spLocks noGrp="1"/>
          </p:cNvSpPr>
          <p:nvPr/>
        </p:nvSpPr>
        <p:spPr>
          <a:xfrm>
            <a:off x="1066800" y="400050"/>
            <a:ext cx="7429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 i="0">
                <a:solidFill>
                  <a:srgbClr val="15324A"/>
                </a:solidFill>
                <a:latin typeface="Aptos"/>
                <a:ea typeface="Aptos"/>
                <a:cs typeface="Aptos"/>
              </a:defRPr>
            </a:pPr>
            <a:r>
              <a:rPr sz="2550" b="1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Fejlesztésről</a:t>
            </a:r>
            <a:endParaRPr sz="2550" b="1" i="0" dirty="0">
              <a:solidFill>
                <a:srgbClr val="1532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849754D2-6558-4DB0-8420-E6377254BED5}"/>
              </a:ext>
            </a:extLst>
          </p:cNvPr>
          <p:cNvSpPr>
            <a:spLocks noGrp="1"/>
          </p:cNvSpPr>
          <p:nvPr/>
        </p:nvSpPr>
        <p:spPr>
          <a:xfrm>
            <a:off x="1085850" y="904875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 i="0">
                <a:solidFill>
                  <a:srgbClr val="4B6175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6175"/>
                </a:solidFill>
                <a:latin typeface="Aptos"/>
                <a:ea typeface="Aptos"/>
                <a:cs typeface="Aptos"/>
              </a:rPr>
              <a:t>ASP.NET Core backend, MS SQL Server adatbázis és React webes kliens</a:t>
            </a:r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23550C6B-3F34-48A5-9095-5AF6293B3AEF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29527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C8D8E6"/>
            </a:solidFill>
          </a:ln>
        </p:spPr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86CE4B21-12F7-4408-8A9C-8D61B43A427D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57150" cy="1123950"/>
          </a:xfrm>
          <a:prstGeom prst="rect">
            <a:avLst/>
          </a:prstGeom>
          <a:solidFill>
            <a:srgbClr val="1D75D8"/>
          </a:solidFill>
          <a:ln w="0">
            <a:noFill/>
          </a:ln>
        </p:spPr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B3624392-5BB3-4F36-855B-50C41BBF150C}"/>
              </a:ext>
            </a:extLst>
          </p:cNvPr>
          <p:cNvSpPr>
            <a:spLocks noGrp="1"/>
          </p:cNvSpPr>
          <p:nvPr/>
        </p:nvSpPr>
        <p:spPr>
          <a:xfrm>
            <a:off x="800100" y="1638300"/>
            <a:ext cx="26098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892" lnSpcReduction="10000"/>
          </a:bodyPr>
          <a:lstStyle/>
          <a:p>
            <a:pPr>
              <a:defRPr sz="1275" b="1" i="0">
                <a:solidFill>
                  <a:srgbClr val="15324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5324A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CD97E9CE-FDF2-4DB3-8C53-DFB03111CFCF}"/>
              </a:ext>
            </a:extLst>
          </p:cNvPr>
          <p:cNvSpPr>
            <a:spLocks noGrp="1"/>
          </p:cNvSpPr>
          <p:nvPr/>
        </p:nvSpPr>
        <p:spPr>
          <a:xfrm>
            <a:off x="800100" y="1943100"/>
            <a:ext cx="26098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050" b="0" i="0">
                <a:solidFill>
                  <a:srgbClr val="4B61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B6175"/>
                </a:solidFill>
                <a:latin typeface="Aptos"/>
                <a:ea typeface="Aptos"/>
                <a:cs typeface="Aptos"/>
              </a:rPr>
              <a:t>ASP.NET Core Web API, REST végpontok, jogosultságkezelés, MediatR és CQRS alapú üzleti logika.</a:t>
            </a:r>
          </a:p>
        </p:txBody>
      </p:sp>
      <p:sp>
        <p:nvSpPr>
          <p:cNvPr id="12" name="Téglalap: lekerekített 11">
            <a:extLst>
              <a:ext uri="{FF2B5EF4-FFF2-40B4-BE49-F238E27FC236}">
                <a16:creationId xmlns:a16="http://schemas.microsoft.com/office/drawing/2014/main" id="{AB042E86-2BE1-448B-90F3-DFB2C9FC7729}"/>
              </a:ext>
            </a:extLst>
          </p:cNvPr>
          <p:cNvSpPr>
            <a:spLocks noGrp="1"/>
          </p:cNvSpPr>
          <p:nvPr/>
        </p:nvSpPr>
        <p:spPr>
          <a:xfrm>
            <a:off x="609600" y="2895600"/>
            <a:ext cx="29527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C8D8E6"/>
            </a:solidFill>
          </a:ln>
        </p:spPr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EBC1A42-78D0-4011-8080-AF8C3B5F07D2}"/>
              </a:ext>
            </a:extLst>
          </p:cNvPr>
          <p:cNvSpPr>
            <a:spLocks noGrp="1"/>
          </p:cNvSpPr>
          <p:nvPr/>
        </p:nvSpPr>
        <p:spPr>
          <a:xfrm>
            <a:off x="609600" y="2895600"/>
            <a:ext cx="57150" cy="1123950"/>
          </a:xfrm>
          <a:prstGeom prst="rect">
            <a:avLst/>
          </a:prstGeom>
          <a:solidFill>
            <a:srgbClr val="2A8C74"/>
          </a:solidFill>
          <a:ln w="0">
            <a:noFill/>
          </a:ln>
        </p:spPr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AE97F353-9037-42BF-A00C-21798B4A7413}"/>
              </a:ext>
            </a:extLst>
          </p:cNvPr>
          <p:cNvSpPr>
            <a:spLocks noGrp="1"/>
          </p:cNvSpPr>
          <p:nvPr/>
        </p:nvSpPr>
        <p:spPr>
          <a:xfrm>
            <a:off x="800100" y="3028950"/>
            <a:ext cx="26098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892" lnSpcReduction="10000"/>
          </a:bodyPr>
          <a:lstStyle/>
          <a:p>
            <a:pPr>
              <a:defRPr sz="1275" b="1" i="0">
                <a:solidFill>
                  <a:srgbClr val="15324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5324A"/>
                </a:solidFill>
                <a:latin typeface="Aptos"/>
                <a:ea typeface="Aptos"/>
                <a:cs typeface="Aptos"/>
              </a:rPr>
              <a:t>Adatbázis</a:t>
            </a:r>
          </a:p>
        </p:txBody>
      </p:sp>
      <p:sp>
        <p:nvSpPr>
          <p:cNvPr id="15" name="Téglalap 14">
            <a:extLst>
              <a:ext uri="{FF2B5EF4-FFF2-40B4-BE49-F238E27FC236}">
                <a16:creationId xmlns:a16="http://schemas.microsoft.com/office/drawing/2014/main" id="{38A3D23F-0AAD-4F35-9728-ACA7D46E70B7}"/>
              </a:ext>
            </a:extLst>
          </p:cNvPr>
          <p:cNvSpPr>
            <a:spLocks noGrp="1"/>
          </p:cNvSpPr>
          <p:nvPr/>
        </p:nvSpPr>
        <p:spPr>
          <a:xfrm>
            <a:off x="800100" y="3333750"/>
            <a:ext cx="26098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050" b="0" i="0">
                <a:solidFill>
                  <a:srgbClr val="4B61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B6175"/>
                </a:solidFill>
                <a:latin typeface="Aptos"/>
                <a:ea typeface="Aptos"/>
                <a:cs typeface="Aptos"/>
              </a:rPr>
              <a:t>MS SQL Server, Entity Framework Core migrációk, relációs táblák, kulcsok és validált kapcsolatok.</a:t>
            </a:r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842BF619-BBDB-44C9-A8E9-033608EABD71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29527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C8D8E6"/>
            </a:solidFill>
          </a:ln>
        </p:spPr>
      </p:sp>
      <p:sp>
        <p:nvSpPr>
          <p:cNvPr id="17" name="Téglalap 16">
            <a:extLst>
              <a:ext uri="{FF2B5EF4-FFF2-40B4-BE49-F238E27FC236}">
                <a16:creationId xmlns:a16="http://schemas.microsoft.com/office/drawing/2014/main" id="{A3C5E04E-A846-488C-9748-5BCC1CC96B25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57150" cy="1123950"/>
          </a:xfrm>
          <a:prstGeom prst="rect">
            <a:avLst/>
          </a:prstGeom>
          <a:solidFill>
            <a:srgbClr val="F6B340"/>
          </a:solidFill>
          <a:ln w="0">
            <a:noFill/>
          </a:ln>
        </p:spPr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BE3AAE22-52EE-4B6E-8005-96A18938AB33}"/>
              </a:ext>
            </a:extLst>
          </p:cNvPr>
          <p:cNvSpPr>
            <a:spLocks noGrp="1"/>
          </p:cNvSpPr>
          <p:nvPr/>
        </p:nvSpPr>
        <p:spPr>
          <a:xfrm>
            <a:off x="800100" y="4419600"/>
            <a:ext cx="26098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892" lnSpcReduction="10000"/>
          </a:bodyPr>
          <a:lstStyle/>
          <a:p>
            <a:pPr>
              <a:defRPr sz="1275" b="1" i="0">
                <a:solidFill>
                  <a:srgbClr val="15324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5324A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9" name="Téglalap 18">
            <a:extLst>
              <a:ext uri="{FF2B5EF4-FFF2-40B4-BE49-F238E27FC236}">
                <a16:creationId xmlns:a16="http://schemas.microsoft.com/office/drawing/2014/main" id="{4E203787-1834-411A-9C3D-79E77502B295}"/>
              </a:ext>
            </a:extLst>
          </p:cNvPr>
          <p:cNvSpPr>
            <a:spLocks noGrp="1"/>
          </p:cNvSpPr>
          <p:nvPr/>
        </p:nvSpPr>
        <p:spPr>
          <a:xfrm>
            <a:off x="800100" y="4724400"/>
            <a:ext cx="26098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050" b="0" i="0">
                <a:solidFill>
                  <a:srgbClr val="4B61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B6175"/>
                </a:solidFill>
                <a:latin typeface="Aptos"/>
                <a:ea typeface="Aptos"/>
                <a:cs typeface="Aptos"/>
              </a:rPr>
              <a:t>React + TypeScript, React Query, React Hook Form és Zod alapú adatlekérés és űrlapvalidáció.</a:t>
            </a:r>
          </a:p>
        </p:txBody>
      </p:sp>
      <p:sp>
        <p:nvSpPr>
          <p:cNvPr id="20" name="Téglalap: lekerekített 19">
            <a:extLst>
              <a:ext uri="{FF2B5EF4-FFF2-40B4-BE49-F238E27FC236}">
                <a16:creationId xmlns:a16="http://schemas.microsoft.com/office/drawing/2014/main" id="{47C0E48E-78FD-43A7-A250-09C276FF2D26}"/>
              </a:ext>
            </a:extLst>
          </p:cNvPr>
          <p:cNvSpPr>
            <a:spLocks noGrp="1"/>
          </p:cNvSpPr>
          <p:nvPr/>
        </p:nvSpPr>
        <p:spPr>
          <a:xfrm>
            <a:off x="4257675" y="1314450"/>
            <a:ext cx="6915150" cy="4248150"/>
          </a:xfrm>
          <a:prstGeom prst="roundRect">
            <a:avLst>
              <a:gd name="adj" fmla="val 1794"/>
            </a:avLst>
          </a:prstGeom>
          <a:solidFill>
            <a:srgbClr val="F5F8FB"/>
          </a:solidFill>
          <a:ln w="9525">
            <a:solidFill>
              <a:srgbClr val="C8D8E6"/>
            </a:solidFill>
          </a:ln>
        </p:spPr>
      </p:sp>
      <p:pic>
        <p:nvPicPr>
          <p:cNvPr id="45" name="Kép 4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33875" y="1536502"/>
            <a:ext cx="6762750" cy="3804047"/>
          </a:xfrm>
          <a:prstGeom prst="rect">
            <a:avLst/>
          </a:prstGeom>
        </p:spPr>
      </p:pic>
      <p:sp>
        <p:nvSpPr>
          <p:cNvPr id="22" name="Téglalap 21">
            <a:extLst>
              <a:ext uri="{FF2B5EF4-FFF2-40B4-BE49-F238E27FC236}">
                <a16:creationId xmlns:a16="http://schemas.microsoft.com/office/drawing/2014/main" id="{7D092498-A46F-49A7-9C74-CA19A22BD909}"/>
              </a:ext>
            </a:extLst>
          </p:cNvPr>
          <p:cNvSpPr>
            <a:spLocks noGrp="1"/>
          </p:cNvSpPr>
          <p:nvPr/>
        </p:nvSpPr>
        <p:spPr>
          <a:xfrm>
            <a:off x="4333875" y="5619750"/>
            <a:ext cx="6762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00" b="0" i="0">
                <a:solidFill>
                  <a:srgbClr val="4B6175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4B6175"/>
                </a:solidFill>
                <a:latin typeface="Aptos"/>
                <a:ea typeface="Aptos"/>
                <a:cs typeface="Aptos"/>
              </a:rPr>
              <a:t>Backend kéréskezelési folyamat</a:t>
            </a:r>
          </a:p>
        </p:txBody>
      </p:sp>
      <p:sp>
        <p:nvSpPr>
          <p:cNvPr id="23" name="Téglalap: lekerekített 22">
            <a:extLst>
              <a:ext uri="{FF2B5EF4-FFF2-40B4-BE49-F238E27FC236}">
                <a16:creationId xmlns:a16="http://schemas.microsoft.com/office/drawing/2014/main" id="{69122DA6-0FB7-495C-9B3D-8D52F6F5CCC3}"/>
              </a:ext>
            </a:extLst>
          </p:cNvPr>
          <p:cNvSpPr>
            <a:spLocks noGrp="1"/>
          </p:cNvSpPr>
          <p:nvPr/>
        </p:nvSpPr>
        <p:spPr>
          <a:xfrm>
            <a:off x="4333875" y="5848350"/>
            <a:ext cx="6762750" cy="323850"/>
          </a:xfrm>
          <a:prstGeom prst="roundRect">
            <a:avLst>
              <a:gd name="adj" fmla="val 23529"/>
            </a:avLst>
          </a:prstGeom>
          <a:solidFill>
            <a:srgbClr val="EAF8F2"/>
          </a:solidFill>
          <a:ln w="9525">
            <a:solidFill>
              <a:srgbClr val="BADFD2"/>
            </a:solidFill>
          </a:ln>
        </p:spPr>
      </p:sp>
      <p:sp>
        <p:nvSpPr>
          <p:cNvPr id="24" name="Téglalap 23">
            <a:extLst>
              <a:ext uri="{FF2B5EF4-FFF2-40B4-BE49-F238E27FC236}">
                <a16:creationId xmlns:a16="http://schemas.microsoft.com/office/drawing/2014/main" id="{A3812835-75A7-4874-9763-4C00A6975BA8}"/>
              </a:ext>
            </a:extLst>
          </p:cNvPr>
          <p:cNvSpPr>
            <a:spLocks noGrp="1"/>
          </p:cNvSpPr>
          <p:nvPr/>
        </p:nvSpPr>
        <p:spPr>
          <a:xfrm>
            <a:off x="4467225" y="5924550"/>
            <a:ext cx="64960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722" lnSpcReduction="10000"/>
          </a:bodyPr>
          <a:lstStyle/>
          <a:p>
            <a:pPr>
              <a:defRPr sz="900" b="1" i="0">
                <a:solidFill>
                  <a:srgbClr val="2A8C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A8C74"/>
                </a:solidFill>
                <a:latin typeface="Aptos"/>
                <a:ea typeface="Aptos"/>
                <a:cs typeface="Aptos"/>
              </a:rPr>
              <a:t>A Controller vékony réteg marad, az üzleti logika Handler osztályokban fut.</a:t>
            </a:r>
          </a:p>
        </p:txBody>
      </p:sp>
    </p:spTree>
    <p:extLst>
      <p:ext uri="{BB962C8B-B14F-4D97-AF65-F5344CB8AC3E}">
        <p14:creationId xmlns:p14="http://schemas.microsoft.com/office/powerpoint/2010/main" val="1657814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églalap 20">
            <a:extLst>
              <a:ext uri="{FF2B5EF4-FFF2-40B4-BE49-F238E27FC236}">
                <a16:creationId xmlns:a16="http://schemas.microsoft.com/office/drawing/2014/main" id="{1F138F30-4180-47C8-A165-61B70A6445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F96142E9-E197-465F-8F4F-29DCC8C9E4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1D75D8"/>
          </a:solidFill>
          <a:ln w="0">
            <a:noFill/>
          </a:ln>
        </p:spPr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84C1F2EB-D789-443C-B94C-09DAE770DABB}"/>
              </a:ext>
            </a:extLst>
          </p:cNvPr>
          <p:cNvSpPr>
            <a:spLocks noGrp="1"/>
          </p:cNvSpPr>
          <p:nvPr/>
        </p:nvSpPr>
        <p:spPr>
          <a:xfrm>
            <a:off x="0" y="133350"/>
            <a:ext cx="12192000" cy="38100"/>
          </a:xfrm>
          <a:prstGeom prst="rect">
            <a:avLst/>
          </a:prstGeom>
          <a:solidFill>
            <a:srgbClr val="74C9F4"/>
          </a:solidFill>
          <a:ln w="0">
            <a:noFill/>
          </a:ln>
        </p:spPr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84E57E9D-6303-4247-A61D-25119B3F40B2}"/>
              </a:ext>
            </a:extLst>
          </p:cNvPr>
          <p:cNvSpPr>
            <a:spLocks noGrp="1"/>
          </p:cNvSpPr>
          <p:nvPr/>
        </p:nvSpPr>
        <p:spPr>
          <a:xfrm>
            <a:off x="457200" y="419100"/>
            <a:ext cx="306000" cy="304800"/>
          </a:xfrm>
          <a:prstGeom prst="roundRect">
            <a:avLst>
              <a:gd name="adj" fmla="val 16667"/>
            </a:avLst>
          </a:prstGeom>
          <a:solidFill>
            <a:srgbClr val="EAF5FF"/>
          </a:solidFill>
          <a:ln w="9525">
            <a:solidFill>
              <a:srgbClr val="C8D8E6"/>
            </a:solidFill>
          </a:ln>
        </p:spPr>
        <p:txBody>
          <a:bodyPr>
            <a:normAutofit fontScale="92500" lnSpcReduction="10000"/>
          </a:bodyPr>
          <a:lstStyle/>
          <a:p>
            <a:pPr>
              <a:defRPr sz="1425" b="1">
                <a:solidFill>
                  <a:srgbClr val="1D75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75D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702CD57A-4438-4F94-A2F4-6C8B93A61EF1}"/>
              </a:ext>
            </a:extLst>
          </p:cNvPr>
          <p:cNvSpPr>
            <a:spLocks noGrp="1"/>
          </p:cNvSpPr>
          <p:nvPr/>
        </p:nvSpPr>
        <p:spPr>
          <a:xfrm>
            <a:off x="9715500" y="476250"/>
            <a:ext cx="195262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75" b="0" i="0">
                <a:solidFill>
                  <a:srgbClr val="4B617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4B6175"/>
                </a:solidFill>
                <a:latin typeface="Aptos"/>
                <a:ea typeface="Aptos"/>
                <a:cs typeface="Aptos"/>
              </a:rPr>
              <a:t>EgészségÚt / MedActivities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8D15B836-D960-4D8C-A4B0-9A6D2C3B0081}"/>
              </a:ext>
            </a:extLst>
          </p:cNvPr>
          <p:cNvSpPr>
            <a:spLocks noGrp="1"/>
          </p:cNvSpPr>
          <p:nvPr/>
        </p:nvSpPr>
        <p:spPr>
          <a:xfrm>
            <a:off x="1066800" y="400050"/>
            <a:ext cx="7429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 i="0">
                <a:solidFill>
                  <a:srgbClr val="15324A"/>
                </a:solidFill>
                <a:latin typeface="Aptos"/>
                <a:ea typeface="Aptos"/>
                <a:cs typeface="Aptos"/>
              </a:defRPr>
            </a:pPr>
            <a:r>
              <a:rPr sz="2550" b="1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Felhasználásról</a:t>
            </a:r>
            <a:r>
              <a:rPr sz="2550" b="1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 </a:t>
            </a:r>
            <a:r>
              <a:rPr sz="2550" b="1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gondolatok</a:t>
            </a:r>
            <a:endParaRPr sz="2550" b="1" i="0" dirty="0">
              <a:solidFill>
                <a:srgbClr val="1532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E2581691-FA10-4E6F-A1F3-23490CC2CC63}"/>
              </a:ext>
            </a:extLst>
          </p:cNvPr>
          <p:cNvSpPr>
            <a:spLocks noGrp="1"/>
          </p:cNvSpPr>
          <p:nvPr/>
        </p:nvSpPr>
        <p:spPr>
          <a:xfrm>
            <a:off x="1085850" y="904875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 i="0">
                <a:solidFill>
                  <a:srgbClr val="4B6175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6175"/>
                </a:solidFill>
                <a:latin typeface="Aptos"/>
                <a:ea typeface="Aptos"/>
                <a:cs typeface="Aptos"/>
              </a:rPr>
              <a:t>A rendszer külön folyamatokat támogat páciens és dolgozói szerepkörben</a:t>
            </a:r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143042A4-9EF0-4DFE-85A5-E22C67CCB0B7}"/>
              </a:ext>
            </a:extLst>
          </p:cNvPr>
          <p:cNvSpPr>
            <a:spLocks noGrp="1"/>
          </p:cNvSpPr>
          <p:nvPr/>
        </p:nvSpPr>
        <p:spPr>
          <a:xfrm>
            <a:off x="533400" y="1714500"/>
            <a:ext cx="5486400" cy="3048000"/>
          </a:xfrm>
          <a:prstGeom prst="roundRect">
            <a:avLst>
              <a:gd name="adj" fmla="val 1990"/>
            </a:avLst>
          </a:prstGeom>
          <a:solidFill>
            <a:srgbClr val="F5F8FB"/>
          </a:solidFill>
          <a:ln w="9525">
            <a:solidFill>
              <a:srgbClr val="C8D8E6"/>
            </a:solidFill>
          </a:ln>
        </p:spPr>
      </p:sp>
      <p:pic>
        <p:nvPicPr>
          <p:cNvPr id="29" name="Kép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" y="1925069"/>
            <a:ext cx="5334000" cy="2645911"/>
          </a:xfrm>
          <a:prstGeom prst="rect">
            <a:avLst/>
          </a:prstGeom>
        </p:spPr>
      </p:pic>
      <p:sp>
        <p:nvSpPr>
          <p:cNvPr id="10" name="Téglalap 9">
            <a:extLst>
              <a:ext uri="{FF2B5EF4-FFF2-40B4-BE49-F238E27FC236}">
                <a16:creationId xmlns:a16="http://schemas.microsoft.com/office/drawing/2014/main" id="{4EADCDC7-0D7D-40FF-AAFF-F965644DC2FA}"/>
              </a:ext>
            </a:extLst>
          </p:cNvPr>
          <p:cNvSpPr>
            <a:spLocks noGrp="1"/>
          </p:cNvSpPr>
          <p:nvPr/>
        </p:nvSpPr>
        <p:spPr>
          <a:xfrm>
            <a:off x="609600" y="4836241"/>
            <a:ext cx="5334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00" b="0" i="0">
                <a:solidFill>
                  <a:srgbClr val="4B6175"/>
                </a:solidFill>
                <a:latin typeface="Aptos"/>
                <a:ea typeface="Aptos"/>
                <a:cs typeface="Aptos"/>
              </a:defRPr>
            </a:pPr>
            <a:r>
              <a:rPr sz="900" b="0" i="0" dirty="0" err="1">
                <a:solidFill>
                  <a:srgbClr val="4B6175"/>
                </a:solidFill>
                <a:latin typeface="Aptos"/>
                <a:ea typeface="Aptos"/>
                <a:cs typeface="Aptos"/>
              </a:rPr>
              <a:t>Események</a:t>
            </a:r>
            <a:r>
              <a:rPr sz="900" b="0" i="0" dirty="0">
                <a:solidFill>
                  <a:srgbClr val="4B6175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i="0" dirty="0" err="1">
                <a:solidFill>
                  <a:srgbClr val="4B6175"/>
                </a:solidFill>
                <a:latin typeface="Aptos"/>
                <a:ea typeface="Aptos"/>
                <a:cs typeface="Aptos"/>
              </a:rPr>
              <a:t>áttekintése</a:t>
            </a:r>
            <a:endParaRPr sz="900" b="0" i="0" dirty="0">
              <a:solidFill>
                <a:srgbClr val="4B617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Ellipszis 10">
            <a:extLst>
              <a:ext uri="{FF2B5EF4-FFF2-40B4-BE49-F238E27FC236}">
                <a16:creationId xmlns:a16="http://schemas.microsoft.com/office/drawing/2014/main" id="{D49533DB-427D-4559-AC32-534BDE5C7565}"/>
              </a:ext>
            </a:extLst>
          </p:cNvPr>
          <p:cNvSpPr>
            <a:spLocks noGrp="1"/>
          </p:cNvSpPr>
          <p:nvPr/>
        </p:nvSpPr>
        <p:spPr>
          <a:xfrm>
            <a:off x="6572250" y="1657350"/>
            <a:ext cx="133350" cy="133350"/>
          </a:xfrm>
          <a:prstGeom prst="ellipse">
            <a:avLst/>
          </a:prstGeom>
          <a:solidFill>
            <a:srgbClr val="1D75D8"/>
          </a:solidFill>
          <a:ln w="0">
            <a:noFill/>
          </a:ln>
        </p:spPr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2EF39D1A-508D-41C8-B50C-AA79F105AA0A}"/>
              </a:ext>
            </a:extLst>
          </p:cNvPr>
          <p:cNvSpPr>
            <a:spLocks noGrp="1"/>
          </p:cNvSpPr>
          <p:nvPr/>
        </p:nvSpPr>
        <p:spPr>
          <a:xfrm>
            <a:off x="6838950" y="1581150"/>
            <a:ext cx="4067175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 i="0">
                <a:solidFill>
                  <a:srgbClr val="15324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5324A"/>
                </a:solidFill>
                <a:latin typeface="Aptos"/>
                <a:ea typeface="Aptos"/>
                <a:cs typeface="Aptos"/>
              </a:rPr>
              <a:t>Páciens: saját adatok, időpontfoglalás, előzmények és dokumentumok áttekintése.</a:t>
            </a:r>
          </a:p>
        </p:txBody>
      </p:sp>
      <p:sp>
        <p:nvSpPr>
          <p:cNvPr id="13" name="Ellipszis 12">
            <a:extLst>
              <a:ext uri="{FF2B5EF4-FFF2-40B4-BE49-F238E27FC236}">
                <a16:creationId xmlns:a16="http://schemas.microsoft.com/office/drawing/2014/main" id="{20487927-705D-4A79-9DD1-4DC7EB1856D7}"/>
              </a:ext>
            </a:extLst>
          </p:cNvPr>
          <p:cNvSpPr>
            <a:spLocks noGrp="1"/>
          </p:cNvSpPr>
          <p:nvPr/>
        </p:nvSpPr>
        <p:spPr>
          <a:xfrm>
            <a:off x="6572250" y="2457450"/>
            <a:ext cx="133350" cy="133350"/>
          </a:xfrm>
          <a:prstGeom prst="ellipse">
            <a:avLst/>
          </a:prstGeom>
          <a:solidFill>
            <a:srgbClr val="1D75D8"/>
          </a:solidFill>
          <a:ln w="0">
            <a:noFill/>
          </a:ln>
        </p:spPr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F1511230-B1FE-4A12-9F3A-2CF7D1994570}"/>
              </a:ext>
            </a:extLst>
          </p:cNvPr>
          <p:cNvSpPr>
            <a:spLocks noGrp="1"/>
          </p:cNvSpPr>
          <p:nvPr/>
        </p:nvSpPr>
        <p:spPr>
          <a:xfrm>
            <a:off x="6838950" y="2381250"/>
            <a:ext cx="4067175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 i="0">
                <a:solidFill>
                  <a:srgbClr val="15324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5324A"/>
                </a:solidFill>
                <a:latin typeface="Aptos"/>
                <a:ea typeface="Aptos"/>
                <a:cs typeface="Aptos"/>
              </a:rPr>
              <a:t>Orvos: hozzárendelt betegútesemények, megjegyzések és kezelési lépések kezelése.</a:t>
            </a:r>
          </a:p>
        </p:txBody>
      </p:sp>
      <p:sp>
        <p:nvSpPr>
          <p:cNvPr id="15" name="Ellipszis 14">
            <a:extLst>
              <a:ext uri="{FF2B5EF4-FFF2-40B4-BE49-F238E27FC236}">
                <a16:creationId xmlns:a16="http://schemas.microsoft.com/office/drawing/2014/main" id="{05670BCB-311B-438E-85B5-156DE2D2A556}"/>
              </a:ext>
            </a:extLst>
          </p:cNvPr>
          <p:cNvSpPr>
            <a:spLocks noGrp="1"/>
          </p:cNvSpPr>
          <p:nvPr/>
        </p:nvSpPr>
        <p:spPr>
          <a:xfrm>
            <a:off x="6572250" y="3257550"/>
            <a:ext cx="133350" cy="133350"/>
          </a:xfrm>
          <a:prstGeom prst="ellipse">
            <a:avLst/>
          </a:prstGeom>
          <a:solidFill>
            <a:srgbClr val="1D75D8"/>
          </a:solidFill>
          <a:ln w="0">
            <a:noFill/>
          </a:ln>
        </p:spPr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B358B6C2-B49D-43CC-998F-8F081D5CD4D1}"/>
              </a:ext>
            </a:extLst>
          </p:cNvPr>
          <p:cNvSpPr>
            <a:spLocks noGrp="1"/>
          </p:cNvSpPr>
          <p:nvPr/>
        </p:nvSpPr>
        <p:spPr>
          <a:xfrm>
            <a:off x="6838950" y="3181350"/>
            <a:ext cx="4067175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 i="0">
                <a:solidFill>
                  <a:srgbClr val="15324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5324A"/>
                </a:solidFill>
                <a:latin typeface="Aptos"/>
                <a:ea typeface="Aptos"/>
                <a:cs typeface="Aptos"/>
              </a:rPr>
              <a:t>Adminisztráció: páciensek, időpontok és események gyors nyilvántartása.</a:t>
            </a:r>
          </a:p>
        </p:txBody>
      </p:sp>
      <p:sp>
        <p:nvSpPr>
          <p:cNvPr id="17" name="Ellipszis 16">
            <a:extLst>
              <a:ext uri="{FF2B5EF4-FFF2-40B4-BE49-F238E27FC236}">
                <a16:creationId xmlns:a16="http://schemas.microsoft.com/office/drawing/2014/main" id="{D517CB1B-BAF9-48C4-96B7-611E702AA26F}"/>
              </a:ext>
            </a:extLst>
          </p:cNvPr>
          <p:cNvSpPr>
            <a:spLocks noGrp="1"/>
          </p:cNvSpPr>
          <p:nvPr/>
        </p:nvSpPr>
        <p:spPr>
          <a:xfrm>
            <a:off x="6572250" y="4057650"/>
            <a:ext cx="133350" cy="133350"/>
          </a:xfrm>
          <a:prstGeom prst="ellipse">
            <a:avLst/>
          </a:prstGeom>
          <a:solidFill>
            <a:srgbClr val="1D75D8"/>
          </a:solidFill>
          <a:ln w="0">
            <a:noFill/>
          </a:ln>
        </p:spPr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0D982298-F3C2-4E1A-817E-7B98D2D812B7}"/>
              </a:ext>
            </a:extLst>
          </p:cNvPr>
          <p:cNvSpPr>
            <a:spLocks noGrp="1"/>
          </p:cNvSpPr>
          <p:nvPr/>
        </p:nvSpPr>
        <p:spPr>
          <a:xfrm>
            <a:off x="6838950" y="3981450"/>
            <a:ext cx="4067175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 i="0">
                <a:solidFill>
                  <a:srgbClr val="15324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5324A"/>
                </a:solidFill>
                <a:latin typeface="Aptos"/>
                <a:ea typeface="Aptos"/>
                <a:cs typeface="Aptos"/>
              </a:rPr>
              <a:t>Kommunikáció: eseményhez kötött megjegyzések segítik a további ellátási lépések követését.</a:t>
            </a:r>
          </a:p>
        </p:txBody>
      </p:sp>
      <p:sp>
        <p:nvSpPr>
          <p:cNvPr id="19" name="Téglalap: lekerekített 18">
            <a:extLst>
              <a:ext uri="{FF2B5EF4-FFF2-40B4-BE49-F238E27FC236}">
                <a16:creationId xmlns:a16="http://schemas.microsoft.com/office/drawing/2014/main" id="{F7861E8A-E82D-4B02-B6B5-6BF9A8CE7A66}"/>
              </a:ext>
            </a:extLst>
          </p:cNvPr>
          <p:cNvSpPr>
            <a:spLocks noGrp="1"/>
          </p:cNvSpPr>
          <p:nvPr/>
        </p:nvSpPr>
        <p:spPr>
          <a:xfrm>
            <a:off x="1476375" y="5695950"/>
            <a:ext cx="8858250" cy="323850"/>
          </a:xfrm>
          <a:prstGeom prst="roundRect">
            <a:avLst>
              <a:gd name="adj" fmla="val 23529"/>
            </a:avLst>
          </a:prstGeom>
          <a:solidFill>
            <a:srgbClr val="EAF8F2"/>
          </a:solidFill>
          <a:ln w="9525">
            <a:solidFill>
              <a:srgbClr val="BADFD2"/>
            </a:solidFill>
          </a:ln>
        </p:spPr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16FB6F69-2E96-47EC-AB42-82AF11512D71}"/>
              </a:ext>
            </a:extLst>
          </p:cNvPr>
          <p:cNvSpPr>
            <a:spLocks noGrp="1"/>
          </p:cNvSpPr>
          <p:nvPr/>
        </p:nvSpPr>
        <p:spPr>
          <a:xfrm>
            <a:off x="1609725" y="5772150"/>
            <a:ext cx="85915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722" lnSpcReduction="10000"/>
          </a:bodyPr>
          <a:lstStyle/>
          <a:p>
            <a:pPr>
              <a:defRPr sz="900" b="1" i="0">
                <a:solidFill>
                  <a:srgbClr val="2A8C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A8C74"/>
                </a:solidFill>
                <a:latin typeface="Aptos"/>
                <a:ea typeface="Aptos"/>
                <a:cs typeface="Aptos"/>
              </a:rPr>
              <a:t>A használat központja az egészségügyi esemény: ehhez kapcsolódik adat, dokumentum és kommunikáció.</a:t>
            </a:r>
          </a:p>
        </p:txBody>
      </p:sp>
    </p:spTree>
    <p:extLst>
      <p:ext uri="{BB962C8B-B14F-4D97-AF65-F5344CB8AC3E}">
        <p14:creationId xmlns:p14="http://schemas.microsoft.com/office/powerpoint/2010/main" val="1367455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églalap 28">
            <a:extLst>
              <a:ext uri="{FF2B5EF4-FFF2-40B4-BE49-F238E27FC236}">
                <a16:creationId xmlns:a16="http://schemas.microsoft.com/office/drawing/2014/main" id="{FCE68622-7AB0-4847-9DD4-5C192FF16F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9E5B491E-5DBA-40B7-887B-49EA8948C0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1D75D8"/>
          </a:solidFill>
          <a:ln w="0">
            <a:noFill/>
          </a:ln>
        </p:spPr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41866D67-CFEE-4A47-91DD-F1B200FF1182}"/>
              </a:ext>
            </a:extLst>
          </p:cNvPr>
          <p:cNvSpPr>
            <a:spLocks noGrp="1"/>
          </p:cNvSpPr>
          <p:nvPr/>
        </p:nvSpPr>
        <p:spPr>
          <a:xfrm>
            <a:off x="0" y="133350"/>
            <a:ext cx="12192000" cy="38100"/>
          </a:xfrm>
          <a:prstGeom prst="rect">
            <a:avLst/>
          </a:prstGeom>
          <a:solidFill>
            <a:srgbClr val="74C9F4"/>
          </a:solidFill>
          <a:ln w="0">
            <a:noFill/>
          </a:ln>
        </p:spPr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28A2471F-2121-49C4-A089-84AD5BDFFE58}"/>
              </a:ext>
            </a:extLst>
          </p:cNvPr>
          <p:cNvSpPr>
            <a:spLocks noGrp="1"/>
          </p:cNvSpPr>
          <p:nvPr/>
        </p:nvSpPr>
        <p:spPr>
          <a:xfrm>
            <a:off x="457200" y="419100"/>
            <a:ext cx="306000" cy="304800"/>
          </a:xfrm>
          <a:prstGeom prst="roundRect">
            <a:avLst>
              <a:gd name="adj" fmla="val 16667"/>
            </a:avLst>
          </a:prstGeom>
          <a:solidFill>
            <a:srgbClr val="EAF5FF"/>
          </a:solidFill>
          <a:ln w="9525">
            <a:solidFill>
              <a:srgbClr val="C8D8E6"/>
            </a:solidFill>
          </a:ln>
        </p:spPr>
        <p:txBody>
          <a:bodyPr>
            <a:normAutofit fontScale="92500" lnSpcReduction="10000"/>
          </a:bodyPr>
          <a:lstStyle/>
          <a:p>
            <a:pPr>
              <a:defRPr sz="1425" b="1">
                <a:solidFill>
                  <a:srgbClr val="1D75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75D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DEB73225-101F-4CD5-8DEE-FAC770B425E8}"/>
              </a:ext>
            </a:extLst>
          </p:cNvPr>
          <p:cNvSpPr>
            <a:spLocks noGrp="1"/>
          </p:cNvSpPr>
          <p:nvPr/>
        </p:nvSpPr>
        <p:spPr>
          <a:xfrm>
            <a:off x="9715500" y="476250"/>
            <a:ext cx="195262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75" b="0" i="0">
                <a:solidFill>
                  <a:srgbClr val="4B617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4B6175"/>
                </a:solidFill>
                <a:latin typeface="Aptos"/>
                <a:ea typeface="Aptos"/>
                <a:cs typeface="Aptos"/>
              </a:rPr>
              <a:t>EgészségÚt / MedActivities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0F590776-929E-4C23-AFD5-BAED5C263DFE}"/>
              </a:ext>
            </a:extLst>
          </p:cNvPr>
          <p:cNvSpPr>
            <a:spLocks noGrp="1"/>
          </p:cNvSpPr>
          <p:nvPr/>
        </p:nvSpPr>
        <p:spPr>
          <a:xfrm>
            <a:off x="1066800" y="400050"/>
            <a:ext cx="7429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 i="0">
                <a:solidFill>
                  <a:srgbClr val="15324A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5324A"/>
                </a:solidFill>
                <a:latin typeface="Aptos"/>
                <a:ea typeface="Aptos"/>
                <a:cs typeface="Aptos"/>
              </a:rPr>
              <a:t>Továbbfejlesztési lehetőségek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FA6D0426-D1EB-4D2C-99F5-FA4DA52C0ED5}"/>
              </a:ext>
            </a:extLst>
          </p:cNvPr>
          <p:cNvSpPr>
            <a:spLocks noGrp="1"/>
          </p:cNvSpPr>
          <p:nvPr/>
        </p:nvSpPr>
        <p:spPr>
          <a:xfrm>
            <a:off x="1085850" y="904875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 i="0">
                <a:solidFill>
                  <a:srgbClr val="4B6175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6175"/>
                </a:solidFill>
                <a:latin typeface="Aptos"/>
                <a:ea typeface="Aptos"/>
                <a:cs typeface="Aptos"/>
              </a:rPr>
              <a:t>A vizsgaremek jó alap további intézményi és mobil funkciókhoz</a:t>
            </a:r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11BE34F4-DA97-489E-91EC-C8D861CAB2E4}"/>
              </a:ext>
            </a:extLst>
          </p:cNvPr>
          <p:cNvSpPr>
            <a:spLocks noGrp="1"/>
          </p:cNvSpPr>
          <p:nvPr/>
        </p:nvSpPr>
        <p:spPr>
          <a:xfrm>
            <a:off x="533400" y="1400175"/>
            <a:ext cx="5105400" cy="3562350"/>
          </a:xfrm>
          <a:prstGeom prst="roundRect">
            <a:avLst>
              <a:gd name="adj" fmla="val 2139"/>
            </a:avLst>
          </a:prstGeom>
          <a:solidFill>
            <a:srgbClr val="F5F8FB"/>
          </a:solidFill>
          <a:ln w="9525">
            <a:solidFill>
              <a:srgbClr val="C8D8E6"/>
            </a:solidFill>
          </a:ln>
        </p:spPr>
      </p:sp>
      <p:pic>
        <p:nvPicPr>
          <p:cNvPr id="37" name="Kép 3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0031" y="1736725"/>
            <a:ext cx="4952138" cy="2889250"/>
          </a:xfrm>
          <a:prstGeom prst="rect">
            <a:avLst/>
          </a:prstGeom>
        </p:spPr>
      </p:pic>
      <p:sp>
        <p:nvSpPr>
          <p:cNvPr id="10" name="Téglalap 9">
            <a:extLst>
              <a:ext uri="{FF2B5EF4-FFF2-40B4-BE49-F238E27FC236}">
                <a16:creationId xmlns:a16="http://schemas.microsoft.com/office/drawing/2014/main" id="{57D5B53B-F8DD-4F63-9D0D-3FE209F18761}"/>
              </a:ext>
            </a:extLst>
          </p:cNvPr>
          <p:cNvSpPr>
            <a:spLocks noGrp="1"/>
          </p:cNvSpPr>
          <p:nvPr/>
        </p:nvSpPr>
        <p:spPr>
          <a:xfrm>
            <a:off x="609600" y="5019675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00" b="0" i="0">
                <a:solidFill>
                  <a:srgbClr val="4B6175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4B6175"/>
                </a:solidFill>
                <a:latin typeface="Aptos"/>
                <a:ea typeface="Aptos"/>
                <a:cs typeface="Aptos"/>
              </a:rPr>
              <a:t>Reszponzív működés desktop, tablet és mobil nézetben</a:t>
            </a:r>
          </a:p>
        </p:txBody>
      </p:sp>
      <p:sp>
        <p:nvSpPr>
          <p:cNvPr id="11" name="Téglalap: lekerekített 10">
            <a:extLst>
              <a:ext uri="{FF2B5EF4-FFF2-40B4-BE49-F238E27FC236}">
                <a16:creationId xmlns:a16="http://schemas.microsoft.com/office/drawing/2014/main" id="{6FFD1F80-B8B9-45C3-9651-B84819ECF871}"/>
              </a:ext>
            </a:extLst>
          </p:cNvPr>
          <p:cNvSpPr>
            <a:spLocks noGrp="1"/>
          </p:cNvSpPr>
          <p:nvPr/>
        </p:nvSpPr>
        <p:spPr>
          <a:xfrm>
            <a:off x="6191250" y="1428750"/>
            <a:ext cx="43815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8D8E6"/>
            </a:solidFill>
          </a:ln>
        </p:spPr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E4FB97AF-4F58-4DA7-83BE-D867EF33AA50}"/>
              </a:ext>
            </a:extLst>
          </p:cNvPr>
          <p:cNvSpPr>
            <a:spLocks noGrp="1"/>
          </p:cNvSpPr>
          <p:nvPr/>
        </p:nvSpPr>
        <p:spPr>
          <a:xfrm>
            <a:off x="6191250" y="1428750"/>
            <a:ext cx="57150" cy="800100"/>
          </a:xfrm>
          <a:prstGeom prst="rect">
            <a:avLst/>
          </a:prstGeom>
          <a:solidFill>
            <a:srgbClr val="1D75D8"/>
          </a:solidFill>
          <a:ln w="0">
            <a:noFill/>
          </a:ln>
        </p:spPr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FA824C2-FBEF-43F3-8E32-608D306FACD2}"/>
              </a:ext>
            </a:extLst>
          </p:cNvPr>
          <p:cNvSpPr>
            <a:spLocks noGrp="1"/>
          </p:cNvSpPr>
          <p:nvPr/>
        </p:nvSpPr>
        <p:spPr>
          <a:xfrm>
            <a:off x="6381750" y="1562100"/>
            <a:ext cx="40386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892" lnSpcReduction="10000"/>
          </a:bodyPr>
          <a:lstStyle/>
          <a:p>
            <a:pPr>
              <a:defRPr sz="1275" b="1" i="0">
                <a:solidFill>
                  <a:srgbClr val="15324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5324A"/>
                </a:solidFill>
                <a:latin typeface="Aptos"/>
                <a:ea typeface="Aptos"/>
                <a:cs typeface="Aptos"/>
              </a:rPr>
              <a:t>EESZT és külső rendszerek</a:t>
            </a:r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679FB4DF-1FCD-4F18-AAFC-EA7E3D63E767}"/>
              </a:ext>
            </a:extLst>
          </p:cNvPr>
          <p:cNvSpPr>
            <a:spLocks noGrp="1"/>
          </p:cNvSpPr>
          <p:nvPr/>
        </p:nvSpPr>
        <p:spPr>
          <a:xfrm>
            <a:off x="6381750" y="1866900"/>
            <a:ext cx="40386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4339" lnSpcReduction="20000"/>
          </a:bodyPr>
          <a:lstStyle/>
          <a:p>
            <a:pPr>
              <a:defRPr sz="1050" b="0" i="0">
                <a:solidFill>
                  <a:srgbClr val="4B61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B6175"/>
                </a:solidFill>
                <a:latin typeface="Aptos"/>
                <a:ea typeface="Aptos"/>
                <a:cs typeface="Aptos"/>
              </a:rPr>
              <a:t>Későbbi integráció hivatalos egészségügyi adatkapcsolatokkal és intézményi rendszerekkel.</a:t>
            </a:r>
          </a:p>
        </p:txBody>
      </p:sp>
      <p:sp>
        <p:nvSpPr>
          <p:cNvPr id="15" name="Téglalap: lekerekített 14">
            <a:extLst>
              <a:ext uri="{FF2B5EF4-FFF2-40B4-BE49-F238E27FC236}">
                <a16:creationId xmlns:a16="http://schemas.microsoft.com/office/drawing/2014/main" id="{6BAFC062-9408-432D-AD96-C5DFDCD2E3D2}"/>
              </a:ext>
            </a:extLst>
          </p:cNvPr>
          <p:cNvSpPr>
            <a:spLocks noGrp="1"/>
          </p:cNvSpPr>
          <p:nvPr/>
        </p:nvSpPr>
        <p:spPr>
          <a:xfrm>
            <a:off x="6191250" y="2419350"/>
            <a:ext cx="43815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8D8E6"/>
            </a:solidFill>
          </a:ln>
        </p:spPr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29F3F1B9-33FC-4CFB-BA44-8824E44647DB}"/>
              </a:ext>
            </a:extLst>
          </p:cNvPr>
          <p:cNvSpPr>
            <a:spLocks noGrp="1"/>
          </p:cNvSpPr>
          <p:nvPr/>
        </p:nvSpPr>
        <p:spPr>
          <a:xfrm>
            <a:off x="6191250" y="2419350"/>
            <a:ext cx="57150" cy="800100"/>
          </a:xfrm>
          <a:prstGeom prst="rect">
            <a:avLst/>
          </a:prstGeom>
          <a:solidFill>
            <a:srgbClr val="2A8C74"/>
          </a:solidFill>
          <a:ln w="0">
            <a:noFill/>
          </a:ln>
        </p:spPr>
      </p:sp>
      <p:sp>
        <p:nvSpPr>
          <p:cNvPr id="17" name="Téglalap 16">
            <a:extLst>
              <a:ext uri="{FF2B5EF4-FFF2-40B4-BE49-F238E27FC236}">
                <a16:creationId xmlns:a16="http://schemas.microsoft.com/office/drawing/2014/main" id="{AD614E37-C81D-484E-A6C2-E5642F591025}"/>
              </a:ext>
            </a:extLst>
          </p:cNvPr>
          <p:cNvSpPr>
            <a:spLocks noGrp="1"/>
          </p:cNvSpPr>
          <p:nvPr/>
        </p:nvSpPr>
        <p:spPr>
          <a:xfrm>
            <a:off x="6381750" y="2552700"/>
            <a:ext cx="40386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892" lnSpcReduction="10000"/>
          </a:bodyPr>
          <a:lstStyle/>
          <a:p>
            <a:pPr>
              <a:defRPr sz="1275" b="1" i="0">
                <a:solidFill>
                  <a:srgbClr val="15324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5324A"/>
                </a:solidFill>
                <a:latin typeface="Aptos"/>
                <a:ea typeface="Aptos"/>
                <a:cs typeface="Aptos"/>
              </a:rPr>
              <a:t>Mobilalkalmazás</a:t>
            </a:r>
          </a:p>
        </p:txBody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C70D1279-9D40-4F36-ADF8-192D62E04120}"/>
              </a:ext>
            </a:extLst>
          </p:cNvPr>
          <p:cNvSpPr>
            <a:spLocks noGrp="1"/>
          </p:cNvSpPr>
          <p:nvPr/>
        </p:nvSpPr>
        <p:spPr>
          <a:xfrm>
            <a:off x="6381750" y="2857500"/>
            <a:ext cx="40386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682" lnSpcReduction="20000"/>
          </a:bodyPr>
          <a:lstStyle/>
          <a:p>
            <a:pPr>
              <a:defRPr sz="1050" b="0" i="0">
                <a:solidFill>
                  <a:srgbClr val="4B61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B6175"/>
                </a:solidFill>
                <a:latin typeface="Aptos"/>
                <a:ea typeface="Aptos"/>
                <a:cs typeface="Aptos"/>
              </a:rPr>
              <a:t>Natív vagy multiplatform mobil kliens a pácienseknek értesítésekkel és gyors hozzáféréssel.</a:t>
            </a:r>
          </a:p>
        </p:txBody>
      </p:sp>
      <p:sp>
        <p:nvSpPr>
          <p:cNvPr id="19" name="Téglalap: lekerekített 18">
            <a:extLst>
              <a:ext uri="{FF2B5EF4-FFF2-40B4-BE49-F238E27FC236}">
                <a16:creationId xmlns:a16="http://schemas.microsoft.com/office/drawing/2014/main" id="{DACA48E5-613C-4D58-8C40-53771085C01D}"/>
              </a:ext>
            </a:extLst>
          </p:cNvPr>
          <p:cNvSpPr>
            <a:spLocks noGrp="1"/>
          </p:cNvSpPr>
          <p:nvPr/>
        </p:nvSpPr>
        <p:spPr>
          <a:xfrm>
            <a:off x="6191250" y="3409950"/>
            <a:ext cx="43815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8D8E6"/>
            </a:solidFill>
          </a:ln>
        </p:spPr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7F5FA4F1-8065-49EF-BC4E-EE3CC399CA80}"/>
              </a:ext>
            </a:extLst>
          </p:cNvPr>
          <p:cNvSpPr>
            <a:spLocks noGrp="1"/>
          </p:cNvSpPr>
          <p:nvPr/>
        </p:nvSpPr>
        <p:spPr>
          <a:xfrm>
            <a:off x="6191250" y="3409950"/>
            <a:ext cx="57150" cy="800100"/>
          </a:xfrm>
          <a:prstGeom prst="rect">
            <a:avLst/>
          </a:prstGeom>
          <a:solidFill>
            <a:srgbClr val="F6B340"/>
          </a:solidFill>
          <a:ln w="0">
            <a:noFill/>
          </a:ln>
        </p:spPr>
      </p:sp>
      <p:sp>
        <p:nvSpPr>
          <p:cNvPr id="21" name="Téglalap 20">
            <a:extLst>
              <a:ext uri="{FF2B5EF4-FFF2-40B4-BE49-F238E27FC236}">
                <a16:creationId xmlns:a16="http://schemas.microsoft.com/office/drawing/2014/main" id="{44CFADE6-58B1-4EBB-A150-1C7C5CCA691D}"/>
              </a:ext>
            </a:extLst>
          </p:cNvPr>
          <p:cNvSpPr>
            <a:spLocks noGrp="1"/>
          </p:cNvSpPr>
          <p:nvPr/>
        </p:nvSpPr>
        <p:spPr>
          <a:xfrm>
            <a:off x="6381750" y="3543300"/>
            <a:ext cx="40386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892" lnSpcReduction="10000"/>
          </a:bodyPr>
          <a:lstStyle/>
          <a:p>
            <a:pPr>
              <a:defRPr sz="1275" b="1" i="0">
                <a:solidFill>
                  <a:srgbClr val="15324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5324A"/>
                </a:solidFill>
                <a:latin typeface="Aptos"/>
                <a:ea typeface="Aptos"/>
                <a:cs typeface="Aptos"/>
              </a:rPr>
              <a:t>Dokumentumkezelés</a:t>
            </a:r>
          </a:p>
        </p:txBody>
      </p:sp>
      <p:sp>
        <p:nvSpPr>
          <p:cNvPr id="22" name="Téglalap 21">
            <a:extLst>
              <a:ext uri="{FF2B5EF4-FFF2-40B4-BE49-F238E27FC236}">
                <a16:creationId xmlns:a16="http://schemas.microsoft.com/office/drawing/2014/main" id="{0F4DB1A7-8B41-4953-96EF-892EB585799B}"/>
              </a:ext>
            </a:extLst>
          </p:cNvPr>
          <p:cNvSpPr>
            <a:spLocks noGrp="1"/>
          </p:cNvSpPr>
          <p:nvPr/>
        </p:nvSpPr>
        <p:spPr>
          <a:xfrm>
            <a:off x="6381750" y="3848100"/>
            <a:ext cx="40386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6325" lnSpcReduction="20000"/>
          </a:bodyPr>
          <a:lstStyle/>
          <a:p>
            <a:pPr>
              <a:defRPr sz="1050" b="0" i="0">
                <a:solidFill>
                  <a:srgbClr val="4B61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B6175"/>
                </a:solidFill>
                <a:latin typeface="Aptos"/>
                <a:ea typeface="Aptos"/>
                <a:cs typeface="Aptos"/>
              </a:rPr>
              <a:t>Verziózás, jogosultság szerinti megosztás, feltöltési napló és fejlettebb keresés.</a:t>
            </a:r>
          </a:p>
        </p:txBody>
      </p:sp>
      <p:sp>
        <p:nvSpPr>
          <p:cNvPr id="23" name="Téglalap: lekerekített 22">
            <a:extLst>
              <a:ext uri="{FF2B5EF4-FFF2-40B4-BE49-F238E27FC236}">
                <a16:creationId xmlns:a16="http://schemas.microsoft.com/office/drawing/2014/main" id="{394818ED-FCD3-4417-AB25-BCD881D5F54B}"/>
              </a:ext>
            </a:extLst>
          </p:cNvPr>
          <p:cNvSpPr>
            <a:spLocks noGrp="1"/>
          </p:cNvSpPr>
          <p:nvPr/>
        </p:nvSpPr>
        <p:spPr>
          <a:xfrm>
            <a:off x="6191250" y="4400550"/>
            <a:ext cx="43815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8D8E6"/>
            </a:solidFill>
          </a:ln>
        </p:spPr>
      </p:sp>
      <p:sp>
        <p:nvSpPr>
          <p:cNvPr id="24" name="Téglalap 23">
            <a:extLst>
              <a:ext uri="{FF2B5EF4-FFF2-40B4-BE49-F238E27FC236}">
                <a16:creationId xmlns:a16="http://schemas.microsoft.com/office/drawing/2014/main" id="{BE239421-89CA-4D2F-9404-542AFE6854D3}"/>
              </a:ext>
            </a:extLst>
          </p:cNvPr>
          <p:cNvSpPr>
            <a:spLocks noGrp="1"/>
          </p:cNvSpPr>
          <p:nvPr/>
        </p:nvSpPr>
        <p:spPr>
          <a:xfrm>
            <a:off x="6191250" y="4400550"/>
            <a:ext cx="57150" cy="800100"/>
          </a:xfrm>
          <a:prstGeom prst="rect">
            <a:avLst/>
          </a:prstGeom>
          <a:solidFill>
            <a:srgbClr val="74C9F4"/>
          </a:solidFill>
          <a:ln w="0">
            <a:noFill/>
          </a:ln>
        </p:spPr>
      </p:sp>
      <p:sp>
        <p:nvSpPr>
          <p:cNvPr id="25" name="Téglalap 24">
            <a:extLst>
              <a:ext uri="{FF2B5EF4-FFF2-40B4-BE49-F238E27FC236}">
                <a16:creationId xmlns:a16="http://schemas.microsoft.com/office/drawing/2014/main" id="{CF97AF44-FDC0-424D-928D-9B0015B9EC99}"/>
              </a:ext>
            </a:extLst>
          </p:cNvPr>
          <p:cNvSpPr>
            <a:spLocks noGrp="1"/>
          </p:cNvSpPr>
          <p:nvPr/>
        </p:nvSpPr>
        <p:spPr>
          <a:xfrm>
            <a:off x="6381750" y="4533900"/>
            <a:ext cx="40386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892" lnSpcReduction="10000"/>
          </a:bodyPr>
          <a:lstStyle/>
          <a:p>
            <a:pPr>
              <a:defRPr sz="1275" b="1" i="0">
                <a:solidFill>
                  <a:srgbClr val="15324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5324A"/>
                </a:solidFill>
                <a:latin typeface="Aptos"/>
                <a:ea typeface="Aptos"/>
                <a:cs typeface="Aptos"/>
              </a:rPr>
              <a:t>Riportok és döntéstámogatás</a:t>
            </a:r>
          </a:p>
        </p:txBody>
      </p:sp>
      <p:sp>
        <p:nvSpPr>
          <p:cNvPr id="26" name="Téglalap 25">
            <a:extLst>
              <a:ext uri="{FF2B5EF4-FFF2-40B4-BE49-F238E27FC236}">
                <a16:creationId xmlns:a16="http://schemas.microsoft.com/office/drawing/2014/main" id="{18A6AC34-CE78-4AB3-9EB5-B098C26E5AE7}"/>
              </a:ext>
            </a:extLst>
          </p:cNvPr>
          <p:cNvSpPr>
            <a:spLocks noGrp="1"/>
          </p:cNvSpPr>
          <p:nvPr/>
        </p:nvSpPr>
        <p:spPr>
          <a:xfrm>
            <a:off x="6381750" y="4838700"/>
            <a:ext cx="40386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268" lnSpcReduction="20000"/>
          </a:bodyPr>
          <a:lstStyle/>
          <a:p>
            <a:pPr>
              <a:defRPr sz="1050" b="0" i="0">
                <a:solidFill>
                  <a:srgbClr val="4B61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B6175"/>
                </a:solidFill>
                <a:latin typeface="Aptos"/>
                <a:ea typeface="Aptos"/>
                <a:cs typeface="Aptos"/>
              </a:rPr>
              <a:t>Időpontterhelés, ellátási lépések állapota és betegút-statisztikák megjelenítése.</a:t>
            </a:r>
          </a:p>
        </p:txBody>
      </p:sp>
      <p:sp>
        <p:nvSpPr>
          <p:cNvPr id="27" name="Téglalap: lekerekített 26">
            <a:extLst>
              <a:ext uri="{FF2B5EF4-FFF2-40B4-BE49-F238E27FC236}">
                <a16:creationId xmlns:a16="http://schemas.microsoft.com/office/drawing/2014/main" id="{1ED73DE3-63B2-4371-AB24-136B2EDE0291}"/>
              </a:ext>
            </a:extLst>
          </p:cNvPr>
          <p:cNvSpPr>
            <a:spLocks noGrp="1"/>
          </p:cNvSpPr>
          <p:nvPr/>
        </p:nvSpPr>
        <p:spPr>
          <a:xfrm>
            <a:off x="2305050" y="5743575"/>
            <a:ext cx="7143750" cy="323850"/>
          </a:xfrm>
          <a:prstGeom prst="roundRect">
            <a:avLst>
              <a:gd name="adj" fmla="val 23529"/>
            </a:avLst>
          </a:prstGeom>
          <a:solidFill>
            <a:srgbClr val="EAF8F2"/>
          </a:solidFill>
          <a:ln w="9525">
            <a:solidFill>
              <a:srgbClr val="BADFD2"/>
            </a:solidFill>
          </a:ln>
        </p:spPr>
      </p:sp>
      <p:sp>
        <p:nvSpPr>
          <p:cNvPr id="28" name="Téglalap 27">
            <a:extLst>
              <a:ext uri="{FF2B5EF4-FFF2-40B4-BE49-F238E27FC236}">
                <a16:creationId xmlns:a16="http://schemas.microsoft.com/office/drawing/2014/main" id="{2E192F8B-5F56-4C2B-8AD6-5C79E2DF15FD}"/>
              </a:ext>
            </a:extLst>
          </p:cNvPr>
          <p:cNvSpPr>
            <a:spLocks noGrp="1"/>
          </p:cNvSpPr>
          <p:nvPr/>
        </p:nvSpPr>
        <p:spPr>
          <a:xfrm>
            <a:off x="2438400" y="5819775"/>
            <a:ext cx="68770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722" lnSpcReduction="10000"/>
          </a:bodyPr>
          <a:lstStyle/>
          <a:p>
            <a:pPr>
              <a:defRPr sz="900" b="1" i="0">
                <a:solidFill>
                  <a:srgbClr val="2A8C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A8C74"/>
                </a:solidFill>
                <a:latin typeface="Aptos"/>
                <a:ea typeface="Aptos"/>
                <a:cs typeface="Aptos"/>
              </a:rPr>
              <a:t>A jelenlegi rendszer a többplatformos alapot és az adatmodellt már biztosítja.</a:t>
            </a:r>
          </a:p>
        </p:txBody>
      </p:sp>
    </p:spTree>
    <p:extLst>
      <p:ext uri="{BB962C8B-B14F-4D97-AF65-F5344CB8AC3E}">
        <p14:creationId xmlns:p14="http://schemas.microsoft.com/office/powerpoint/2010/main" val="510610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églalap 27">
            <a:extLst>
              <a:ext uri="{FF2B5EF4-FFF2-40B4-BE49-F238E27FC236}">
                <a16:creationId xmlns:a16="http://schemas.microsoft.com/office/drawing/2014/main" id="{E9C55F29-5759-47B5-B226-CF6783DFBB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3A3F6D40-02E6-44A4-9BCB-843FFDAE6B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1D75D8"/>
          </a:solidFill>
          <a:ln w="0">
            <a:noFill/>
          </a:ln>
        </p:spPr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35975BCB-FD49-4AA5-8FA4-B62ABBF64D1D}"/>
              </a:ext>
            </a:extLst>
          </p:cNvPr>
          <p:cNvSpPr>
            <a:spLocks noGrp="1"/>
          </p:cNvSpPr>
          <p:nvPr/>
        </p:nvSpPr>
        <p:spPr>
          <a:xfrm>
            <a:off x="0" y="133350"/>
            <a:ext cx="12192000" cy="38100"/>
          </a:xfrm>
          <a:prstGeom prst="rect">
            <a:avLst/>
          </a:prstGeom>
          <a:solidFill>
            <a:srgbClr val="74C9F4"/>
          </a:solidFill>
          <a:ln w="0">
            <a:noFill/>
          </a:ln>
        </p:spPr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C9E4E80C-3AA6-4F36-BC7C-C88542C1822E}"/>
              </a:ext>
            </a:extLst>
          </p:cNvPr>
          <p:cNvSpPr>
            <a:spLocks noGrp="1"/>
          </p:cNvSpPr>
          <p:nvPr/>
        </p:nvSpPr>
        <p:spPr>
          <a:xfrm>
            <a:off x="457200" y="419100"/>
            <a:ext cx="306000" cy="304800"/>
          </a:xfrm>
          <a:prstGeom prst="roundRect">
            <a:avLst>
              <a:gd name="adj" fmla="val 16667"/>
            </a:avLst>
          </a:prstGeom>
          <a:solidFill>
            <a:srgbClr val="EAF5FF"/>
          </a:solidFill>
          <a:ln w="9525">
            <a:solidFill>
              <a:srgbClr val="C8D8E6"/>
            </a:solidFill>
          </a:ln>
        </p:spPr>
        <p:txBody>
          <a:bodyPr>
            <a:normAutofit fontScale="92500" lnSpcReduction="10000"/>
          </a:bodyPr>
          <a:lstStyle/>
          <a:p>
            <a:pPr>
              <a:defRPr sz="1425" b="1">
                <a:solidFill>
                  <a:srgbClr val="1D75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75D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AF36605F-8C06-4407-B9E2-30335F9B02B9}"/>
              </a:ext>
            </a:extLst>
          </p:cNvPr>
          <p:cNvSpPr>
            <a:spLocks noGrp="1"/>
          </p:cNvSpPr>
          <p:nvPr/>
        </p:nvSpPr>
        <p:spPr>
          <a:xfrm>
            <a:off x="9715500" y="476250"/>
            <a:ext cx="195262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75" b="0" i="0">
                <a:solidFill>
                  <a:srgbClr val="4B617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4B6175"/>
                </a:solidFill>
                <a:latin typeface="Aptos"/>
                <a:ea typeface="Aptos"/>
                <a:cs typeface="Aptos"/>
              </a:rPr>
              <a:t>EgészségÚt / MedActivities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6790BA48-3286-474A-BCE4-891FF7EEDA98}"/>
              </a:ext>
            </a:extLst>
          </p:cNvPr>
          <p:cNvSpPr>
            <a:spLocks noGrp="1"/>
          </p:cNvSpPr>
          <p:nvPr/>
        </p:nvSpPr>
        <p:spPr>
          <a:xfrm>
            <a:off x="1066800" y="400050"/>
            <a:ext cx="7429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 i="0">
                <a:solidFill>
                  <a:srgbClr val="15324A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5324A"/>
                </a:solidFill>
                <a:latin typeface="Aptos"/>
                <a:ea typeface="Aptos"/>
                <a:cs typeface="Aptos"/>
              </a:rPr>
              <a:t>Bemutató különböző jogosultságokkal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F6DB70FA-F2D7-4ED9-B258-83EECB0E17CE}"/>
              </a:ext>
            </a:extLst>
          </p:cNvPr>
          <p:cNvSpPr>
            <a:spLocks noGrp="1"/>
          </p:cNvSpPr>
          <p:nvPr/>
        </p:nvSpPr>
        <p:spPr>
          <a:xfrm>
            <a:off x="1085850" y="904875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 i="0">
                <a:solidFill>
                  <a:srgbClr val="4B6175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6175"/>
                </a:solidFill>
                <a:latin typeface="Aptos"/>
                <a:ea typeface="Aptos"/>
                <a:cs typeface="Aptos"/>
              </a:rPr>
              <a:t>A prezentáció zárásaként szerepkörönként bemutatható a rendszer működése</a:t>
            </a:r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469F589F-7CDE-4447-87B1-738EA7A1DC4A}"/>
              </a:ext>
            </a:extLst>
          </p:cNvPr>
          <p:cNvSpPr>
            <a:spLocks noGrp="1"/>
          </p:cNvSpPr>
          <p:nvPr/>
        </p:nvSpPr>
        <p:spPr>
          <a:xfrm>
            <a:off x="533400" y="1352550"/>
            <a:ext cx="5372100" cy="3790950"/>
          </a:xfrm>
          <a:prstGeom prst="roundRect">
            <a:avLst>
              <a:gd name="adj" fmla="val 2010"/>
            </a:avLst>
          </a:prstGeom>
          <a:solidFill>
            <a:srgbClr val="F5F8FB"/>
          </a:solidFill>
          <a:ln w="9525">
            <a:solidFill>
              <a:srgbClr val="C8D8E6"/>
            </a:solidFill>
          </a:ln>
        </p:spPr>
      </p:sp>
      <p:pic>
        <p:nvPicPr>
          <p:cNvPr id="36" name="Kép 3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779984"/>
            <a:ext cx="5219700" cy="2936081"/>
          </a:xfrm>
          <a:prstGeom prst="rect">
            <a:avLst/>
          </a:prstGeom>
        </p:spPr>
      </p:pic>
      <p:sp>
        <p:nvSpPr>
          <p:cNvPr id="10" name="Téglalap 9">
            <a:extLst>
              <a:ext uri="{FF2B5EF4-FFF2-40B4-BE49-F238E27FC236}">
                <a16:creationId xmlns:a16="http://schemas.microsoft.com/office/drawing/2014/main" id="{3CEF7942-298E-42E2-96BD-19CF3452FC59}"/>
              </a:ext>
            </a:extLst>
          </p:cNvPr>
          <p:cNvSpPr>
            <a:spLocks noGrp="1"/>
          </p:cNvSpPr>
          <p:nvPr/>
        </p:nvSpPr>
        <p:spPr>
          <a:xfrm>
            <a:off x="609600" y="5200650"/>
            <a:ext cx="52197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00" b="0" i="0">
                <a:solidFill>
                  <a:srgbClr val="4B6175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4B6175"/>
                </a:solidFill>
                <a:latin typeface="Aptos"/>
                <a:ea typeface="Aptos"/>
                <a:cs typeface="Aptos"/>
              </a:rPr>
              <a:t>Szerepkörök és hozzáférések</a:t>
            </a:r>
          </a:p>
        </p:txBody>
      </p:sp>
      <p:sp>
        <p:nvSpPr>
          <p:cNvPr id="11" name="Téglalap: lekerekített 10">
            <a:extLst>
              <a:ext uri="{FF2B5EF4-FFF2-40B4-BE49-F238E27FC236}">
                <a16:creationId xmlns:a16="http://schemas.microsoft.com/office/drawing/2014/main" id="{797C8957-9A73-4667-A9B0-D8A2C054520E}"/>
              </a:ext>
            </a:extLst>
          </p:cNvPr>
          <p:cNvSpPr>
            <a:spLocks noGrp="1"/>
          </p:cNvSpPr>
          <p:nvPr/>
        </p:nvSpPr>
        <p:spPr>
          <a:xfrm>
            <a:off x="6477000" y="1390650"/>
            <a:ext cx="409575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C8D8E6"/>
            </a:solidFill>
          </a:ln>
        </p:spPr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F722B660-FDB3-4CE6-81C0-0D883E01F8F9}"/>
              </a:ext>
            </a:extLst>
          </p:cNvPr>
          <p:cNvSpPr>
            <a:spLocks noGrp="1"/>
          </p:cNvSpPr>
          <p:nvPr/>
        </p:nvSpPr>
        <p:spPr>
          <a:xfrm>
            <a:off x="6477000" y="1390650"/>
            <a:ext cx="57150" cy="704850"/>
          </a:xfrm>
          <a:prstGeom prst="rect">
            <a:avLst/>
          </a:prstGeom>
          <a:solidFill>
            <a:srgbClr val="1D75D8"/>
          </a:solidFill>
          <a:ln w="0">
            <a:noFill/>
          </a:ln>
        </p:spPr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99DE3902-7A86-4F0E-94ED-597B17465C19}"/>
              </a:ext>
            </a:extLst>
          </p:cNvPr>
          <p:cNvSpPr>
            <a:spLocks noGrp="1"/>
          </p:cNvSpPr>
          <p:nvPr/>
        </p:nvSpPr>
        <p:spPr>
          <a:xfrm>
            <a:off x="6667500" y="1524000"/>
            <a:ext cx="37528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892" lnSpcReduction="10000"/>
          </a:bodyPr>
          <a:lstStyle/>
          <a:p>
            <a:pPr>
              <a:defRPr sz="1275" b="1" i="0">
                <a:solidFill>
                  <a:srgbClr val="15324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5324A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DBF91C52-A90F-4318-A44D-458CAA48095C}"/>
              </a:ext>
            </a:extLst>
          </p:cNvPr>
          <p:cNvSpPr>
            <a:spLocks noGrp="1"/>
          </p:cNvSpPr>
          <p:nvPr/>
        </p:nvSpPr>
        <p:spPr>
          <a:xfrm>
            <a:off x="6667500" y="1828800"/>
            <a:ext cx="37528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7500" lnSpcReduction="10000"/>
          </a:bodyPr>
          <a:lstStyle/>
          <a:p>
            <a:pPr>
              <a:defRPr sz="1050" b="0" i="0">
                <a:solidFill>
                  <a:srgbClr val="4B61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B6175"/>
                </a:solidFill>
                <a:latin typeface="Aptos"/>
                <a:ea typeface="Aptos"/>
                <a:cs typeface="Aptos"/>
              </a:rPr>
              <a:t>Felhasználók, páciensek, események és rendszeradatok teljesebb kezelése.</a:t>
            </a:r>
          </a:p>
        </p:txBody>
      </p:sp>
      <p:sp>
        <p:nvSpPr>
          <p:cNvPr id="15" name="Téglalap: lekerekített 14">
            <a:extLst>
              <a:ext uri="{FF2B5EF4-FFF2-40B4-BE49-F238E27FC236}">
                <a16:creationId xmlns:a16="http://schemas.microsoft.com/office/drawing/2014/main" id="{A4C63830-4C5F-479A-9499-1CB05528E55B}"/>
              </a:ext>
            </a:extLst>
          </p:cNvPr>
          <p:cNvSpPr>
            <a:spLocks noGrp="1"/>
          </p:cNvSpPr>
          <p:nvPr/>
        </p:nvSpPr>
        <p:spPr>
          <a:xfrm>
            <a:off x="6477000" y="2247900"/>
            <a:ext cx="409575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C8D8E6"/>
            </a:solidFill>
          </a:ln>
        </p:spPr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AFC99534-285F-4626-8DEB-E5AD3F7D8704}"/>
              </a:ext>
            </a:extLst>
          </p:cNvPr>
          <p:cNvSpPr>
            <a:spLocks noGrp="1"/>
          </p:cNvSpPr>
          <p:nvPr/>
        </p:nvSpPr>
        <p:spPr>
          <a:xfrm>
            <a:off x="6477000" y="2247900"/>
            <a:ext cx="57150" cy="704850"/>
          </a:xfrm>
          <a:prstGeom prst="rect">
            <a:avLst/>
          </a:prstGeom>
          <a:solidFill>
            <a:srgbClr val="2A8C74"/>
          </a:solidFill>
          <a:ln w="0">
            <a:noFill/>
          </a:ln>
        </p:spPr>
      </p:sp>
      <p:sp>
        <p:nvSpPr>
          <p:cNvPr id="17" name="Téglalap 16">
            <a:extLst>
              <a:ext uri="{FF2B5EF4-FFF2-40B4-BE49-F238E27FC236}">
                <a16:creationId xmlns:a16="http://schemas.microsoft.com/office/drawing/2014/main" id="{C49B1A75-BD3B-42F0-A188-F3C8B52AE17F}"/>
              </a:ext>
            </a:extLst>
          </p:cNvPr>
          <p:cNvSpPr>
            <a:spLocks noGrp="1"/>
          </p:cNvSpPr>
          <p:nvPr/>
        </p:nvSpPr>
        <p:spPr>
          <a:xfrm>
            <a:off x="6667500" y="2381250"/>
            <a:ext cx="37528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892" lnSpcReduction="10000"/>
          </a:bodyPr>
          <a:lstStyle/>
          <a:p>
            <a:pPr>
              <a:defRPr sz="1275" b="1" i="0">
                <a:solidFill>
                  <a:srgbClr val="15324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5324A"/>
                </a:solidFill>
                <a:latin typeface="Aptos"/>
                <a:ea typeface="Aptos"/>
                <a:cs typeface="Aptos"/>
              </a:rPr>
              <a:t>Felvételi iroda</a:t>
            </a:r>
          </a:p>
        </p:txBody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706A5959-1449-4B6C-827C-EBE74C233DF6}"/>
              </a:ext>
            </a:extLst>
          </p:cNvPr>
          <p:cNvSpPr>
            <a:spLocks noGrp="1"/>
          </p:cNvSpPr>
          <p:nvPr/>
        </p:nvSpPr>
        <p:spPr>
          <a:xfrm>
            <a:off x="6667500" y="2686050"/>
            <a:ext cx="37528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7500" lnSpcReduction="10000"/>
          </a:bodyPr>
          <a:lstStyle/>
          <a:p>
            <a:pPr>
              <a:defRPr sz="1050" b="0" i="0">
                <a:solidFill>
                  <a:srgbClr val="4B61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B6175"/>
                </a:solidFill>
                <a:latin typeface="Aptos"/>
                <a:ea typeface="Aptos"/>
                <a:cs typeface="Aptos"/>
              </a:rPr>
              <a:t>Páciensadatok, kapcsolattartás, időpontok és adminisztrációs folyamatok.</a:t>
            </a:r>
          </a:p>
        </p:txBody>
      </p:sp>
      <p:sp>
        <p:nvSpPr>
          <p:cNvPr id="19" name="Téglalap: lekerekített 18">
            <a:extLst>
              <a:ext uri="{FF2B5EF4-FFF2-40B4-BE49-F238E27FC236}">
                <a16:creationId xmlns:a16="http://schemas.microsoft.com/office/drawing/2014/main" id="{6A7DE715-6EF7-46DD-A1A1-5039E685284B}"/>
              </a:ext>
            </a:extLst>
          </p:cNvPr>
          <p:cNvSpPr>
            <a:spLocks noGrp="1"/>
          </p:cNvSpPr>
          <p:nvPr/>
        </p:nvSpPr>
        <p:spPr>
          <a:xfrm>
            <a:off x="6477000" y="3105150"/>
            <a:ext cx="409575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C8D8E6"/>
            </a:solidFill>
          </a:ln>
        </p:spPr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733AD994-B7FF-4A18-AEC6-2724D697A8EE}"/>
              </a:ext>
            </a:extLst>
          </p:cNvPr>
          <p:cNvSpPr>
            <a:spLocks noGrp="1"/>
          </p:cNvSpPr>
          <p:nvPr/>
        </p:nvSpPr>
        <p:spPr>
          <a:xfrm>
            <a:off x="6477000" y="3105150"/>
            <a:ext cx="57150" cy="704850"/>
          </a:xfrm>
          <a:prstGeom prst="rect">
            <a:avLst/>
          </a:prstGeom>
          <a:solidFill>
            <a:srgbClr val="F6B340"/>
          </a:solidFill>
          <a:ln w="0">
            <a:noFill/>
          </a:ln>
        </p:spPr>
      </p:sp>
      <p:sp>
        <p:nvSpPr>
          <p:cNvPr id="21" name="Téglalap 20">
            <a:extLst>
              <a:ext uri="{FF2B5EF4-FFF2-40B4-BE49-F238E27FC236}">
                <a16:creationId xmlns:a16="http://schemas.microsoft.com/office/drawing/2014/main" id="{5A031139-071B-4C9C-9280-4235DA3805F9}"/>
              </a:ext>
            </a:extLst>
          </p:cNvPr>
          <p:cNvSpPr>
            <a:spLocks noGrp="1"/>
          </p:cNvSpPr>
          <p:nvPr/>
        </p:nvSpPr>
        <p:spPr>
          <a:xfrm>
            <a:off x="6667500" y="3238500"/>
            <a:ext cx="37528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892" lnSpcReduction="10000"/>
          </a:bodyPr>
          <a:lstStyle/>
          <a:p>
            <a:pPr>
              <a:defRPr sz="1275" b="1" i="0">
                <a:solidFill>
                  <a:srgbClr val="15324A"/>
                </a:solidFill>
                <a:latin typeface="Aptos"/>
                <a:ea typeface="Aptos"/>
                <a:cs typeface="Aptos"/>
              </a:defRPr>
            </a:pPr>
            <a:r>
              <a:rPr sz="1275" b="1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Orvos / </a:t>
            </a:r>
            <a:r>
              <a:rPr lang="hu-HU" sz="1275" b="1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egészségügyi szak</a:t>
            </a:r>
            <a:r>
              <a:rPr sz="1275" b="1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dolgozó</a:t>
            </a:r>
            <a:endParaRPr sz="1275" b="1" i="0" dirty="0">
              <a:solidFill>
                <a:srgbClr val="1532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Téglalap 21">
            <a:extLst>
              <a:ext uri="{FF2B5EF4-FFF2-40B4-BE49-F238E27FC236}">
                <a16:creationId xmlns:a16="http://schemas.microsoft.com/office/drawing/2014/main" id="{5F34A765-5A46-4D17-BDDF-51129D775602}"/>
              </a:ext>
            </a:extLst>
          </p:cNvPr>
          <p:cNvSpPr>
            <a:spLocks noGrp="1"/>
          </p:cNvSpPr>
          <p:nvPr/>
        </p:nvSpPr>
        <p:spPr>
          <a:xfrm>
            <a:off x="6667500" y="3543300"/>
            <a:ext cx="37528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7500" lnSpcReduction="10000"/>
          </a:bodyPr>
          <a:lstStyle/>
          <a:p>
            <a:pPr>
              <a:defRPr sz="1050" b="0" i="0">
                <a:solidFill>
                  <a:srgbClr val="4B61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B6175"/>
                </a:solidFill>
                <a:latin typeface="Aptos"/>
                <a:ea typeface="Aptos"/>
                <a:cs typeface="Aptos"/>
              </a:rPr>
              <a:t>Hozzárendelt páciensek, vizsgálatok, megjegyzések és kezelési események.</a:t>
            </a:r>
          </a:p>
        </p:txBody>
      </p:sp>
      <p:sp>
        <p:nvSpPr>
          <p:cNvPr id="23" name="Téglalap: lekerekített 22">
            <a:extLst>
              <a:ext uri="{FF2B5EF4-FFF2-40B4-BE49-F238E27FC236}">
                <a16:creationId xmlns:a16="http://schemas.microsoft.com/office/drawing/2014/main" id="{C21B5609-562A-4D24-8EB7-49EFADCDCAAC}"/>
              </a:ext>
            </a:extLst>
          </p:cNvPr>
          <p:cNvSpPr>
            <a:spLocks noGrp="1"/>
          </p:cNvSpPr>
          <p:nvPr/>
        </p:nvSpPr>
        <p:spPr>
          <a:xfrm>
            <a:off x="6477000" y="3962400"/>
            <a:ext cx="409575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C8D8E6"/>
            </a:solidFill>
          </a:ln>
        </p:spPr>
      </p:sp>
      <p:sp>
        <p:nvSpPr>
          <p:cNvPr id="24" name="Téglalap 23">
            <a:extLst>
              <a:ext uri="{FF2B5EF4-FFF2-40B4-BE49-F238E27FC236}">
                <a16:creationId xmlns:a16="http://schemas.microsoft.com/office/drawing/2014/main" id="{8035E039-04E2-47AE-8F09-B333B1163183}"/>
              </a:ext>
            </a:extLst>
          </p:cNvPr>
          <p:cNvSpPr>
            <a:spLocks noGrp="1"/>
          </p:cNvSpPr>
          <p:nvPr/>
        </p:nvSpPr>
        <p:spPr>
          <a:xfrm>
            <a:off x="6477000" y="3962400"/>
            <a:ext cx="57150" cy="704850"/>
          </a:xfrm>
          <a:prstGeom prst="rect">
            <a:avLst/>
          </a:prstGeom>
          <a:solidFill>
            <a:srgbClr val="74C9F4"/>
          </a:solidFill>
          <a:ln w="0">
            <a:noFill/>
          </a:ln>
        </p:spPr>
      </p:sp>
      <p:sp>
        <p:nvSpPr>
          <p:cNvPr id="25" name="Téglalap 24">
            <a:extLst>
              <a:ext uri="{FF2B5EF4-FFF2-40B4-BE49-F238E27FC236}">
                <a16:creationId xmlns:a16="http://schemas.microsoft.com/office/drawing/2014/main" id="{8F48D8A3-EA94-41EA-8173-01E731EA40DF}"/>
              </a:ext>
            </a:extLst>
          </p:cNvPr>
          <p:cNvSpPr>
            <a:spLocks noGrp="1"/>
          </p:cNvSpPr>
          <p:nvPr/>
        </p:nvSpPr>
        <p:spPr>
          <a:xfrm>
            <a:off x="6667500" y="4095750"/>
            <a:ext cx="37528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892" lnSpcReduction="10000"/>
          </a:bodyPr>
          <a:lstStyle/>
          <a:p>
            <a:pPr>
              <a:defRPr sz="1275" b="1" i="0">
                <a:solidFill>
                  <a:srgbClr val="15324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5324A"/>
                </a:solidFill>
                <a:latin typeface="Aptos"/>
                <a:ea typeface="Aptos"/>
                <a:cs typeface="Aptos"/>
              </a:rPr>
              <a:t>Páciens</a:t>
            </a:r>
          </a:p>
        </p:txBody>
      </p:sp>
      <p:sp>
        <p:nvSpPr>
          <p:cNvPr id="26" name="Téglalap 25">
            <a:extLst>
              <a:ext uri="{FF2B5EF4-FFF2-40B4-BE49-F238E27FC236}">
                <a16:creationId xmlns:a16="http://schemas.microsoft.com/office/drawing/2014/main" id="{B015CC93-FD35-47AC-BD42-11D83DE8CEC5}"/>
              </a:ext>
            </a:extLst>
          </p:cNvPr>
          <p:cNvSpPr>
            <a:spLocks noGrp="1"/>
          </p:cNvSpPr>
          <p:nvPr/>
        </p:nvSpPr>
        <p:spPr>
          <a:xfrm>
            <a:off x="6667500" y="4400550"/>
            <a:ext cx="37528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7500" lnSpcReduction="10000"/>
          </a:bodyPr>
          <a:lstStyle/>
          <a:p>
            <a:pPr>
              <a:defRPr sz="1050" b="0" i="0">
                <a:solidFill>
                  <a:srgbClr val="4B61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B6175"/>
                </a:solidFill>
                <a:latin typeface="Aptos"/>
                <a:ea typeface="Aptos"/>
                <a:cs typeface="Aptos"/>
              </a:rPr>
              <a:t>Saját adatok, időpontfoglalás, események, előzmények és dokumentumok megtekintése.</a:t>
            </a:r>
          </a:p>
        </p:txBody>
      </p:sp>
      <p:sp>
        <p:nvSpPr>
          <p:cNvPr id="27" name="Téglalap 26">
            <a:extLst>
              <a:ext uri="{FF2B5EF4-FFF2-40B4-BE49-F238E27FC236}">
                <a16:creationId xmlns:a16="http://schemas.microsoft.com/office/drawing/2014/main" id="{313FF5F0-D195-4FBF-A8A5-2277343DE52E}"/>
              </a:ext>
            </a:extLst>
          </p:cNvPr>
          <p:cNvSpPr>
            <a:spLocks noGrp="1"/>
          </p:cNvSpPr>
          <p:nvPr/>
        </p:nvSpPr>
        <p:spPr>
          <a:xfrm>
            <a:off x="1238250" y="5734050"/>
            <a:ext cx="9525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 i="0">
                <a:solidFill>
                  <a:srgbClr val="15324A"/>
                </a:solidFill>
                <a:latin typeface="Aptos"/>
                <a:ea typeface="Aptos"/>
                <a:cs typeface="Aptos"/>
              </a:defRPr>
            </a:pPr>
            <a:r>
              <a:rPr lang="hu-HU" sz="135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É</a:t>
            </a:r>
            <a:r>
              <a:rPr sz="1350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lő</a:t>
            </a:r>
            <a:r>
              <a:rPr sz="1350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bemutató</a:t>
            </a:r>
            <a:r>
              <a:rPr sz="1350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: </a:t>
            </a:r>
            <a:r>
              <a:rPr sz="1350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bejelentkezés</a:t>
            </a:r>
            <a:r>
              <a:rPr sz="1350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 -&gt; </a:t>
            </a:r>
            <a:r>
              <a:rPr sz="1350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eseménylista</a:t>
            </a:r>
            <a:r>
              <a:rPr sz="1350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 -&gt; </a:t>
            </a:r>
            <a:r>
              <a:rPr sz="1350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részletező</a:t>
            </a:r>
            <a:r>
              <a:rPr sz="1350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nézet</a:t>
            </a:r>
            <a:r>
              <a:rPr sz="1350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 -&gt; </a:t>
            </a:r>
            <a:r>
              <a:rPr sz="1350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új</a:t>
            </a:r>
            <a:r>
              <a:rPr sz="1350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megjegyzés</a:t>
            </a:r>
            <a:r>
              <a:rPr sz="1350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vagy</a:t>
            </a:r>
            <a:r>
              <a:rPr sz="1350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időpont</a:t>
            </a:r>
            <a:r>
              <a:rPr sz="1350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 -&gt; </a:t>
            </a:r>
            <a:r>
              <a:rPr sz="1350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jogosultsági</a:t>
            </a:r>
            <a:r>
              <a:rPr sz="1350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i="0" dirty="0" err="1">
                <a:solidFill>
                  <a:srgbClr val="15324A"/>
                </a:solidFill>
                <a:latin typeface="Aptos"/>
                <a:ea typeface="Aptos"/>
                <a:cs typeface="Aptos"/>
              </a:rPr>
              <a:t>különbségek</a:t>
            </a:r>
            <a:r>
              <a:rPr sz="1350" b="0" i="0" dirty="0">
                <a:solidFill>
                  <a:srgbClr val="15324A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165423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586</Words>
  <Application>Microsoft Office PowerPoint</Application>
  <DocSecurity>0</DocSecurity>
  <PresentationFormat>Szélesvásznú</PresentationFormat>
  <Paragraphs>65</Paragraphs>
  <Slides>5</Slides>
  <Notes>5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8" baseType="lpstr">
      <vt:lpstr>Aptos</vt:lpstr>
      <vt:lpstr>Calibri</vt:lpstr>
      <vt:lpstr>ChatGPT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EgeszségÚt vizsgaremek bemutató - Varga Andras</dc:title>
  <dc:creator>Walnut Exporter</dc:creator>
  <cp:lastModifiedBy>András Varga</cp:lastModifiedBy>
  <cp:revision>11</cp:revision>
  <dcterms:created xsi:type="dcterms:W3CDTF">2026-09-23T15:12:21Z</dcterms:created>
  <dcterms:modified xsi:type="dcterms:W3CDTF">2026-10-01T14:09:54Z</dcterms:modified>
</cp:coreProperties>
</file>